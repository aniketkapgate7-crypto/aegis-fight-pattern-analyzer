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73152" cy="329184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E5FF"/>
                </a:solidFill>
                <a:latin typeface="Segoe UI"/>
              </a:defRPr>
            </a:pPr>
            <a:r>
              <a:t>AEGIS</a:t>
            </a:r>
          </a:p>
          <a:p>
            <a:pPr>
              <a:spcAft>
                <a:spcPts val="1400"/>
              </a:spcAft>
              <a:defRPr sz="2600" b="1">
                <a:solidFill>
                  <a:srgbClr val="F5F8FA"/>
                </a:solidFill>
                <a:latin typeface="Segoe UI"/>
              </a:defRPr>
            </a:pPr>
            <a:r>
              <a:t>Privacy-Preserving On-Device Combat Motion Intelligence</a:t>
            </a:r>
          </a:p>
          <a:p>
            <a:pPr>
              <a:spcAft>
                <a:spcPts val="2400"/>
              </a:spcAft>
              <a:defRPr sz="1500">
                <a:solidFill>
                  <a:srgbClr val="A5B4BC"/>
                </a:solidFill>
                <a:latin typeface="Segoe UI"/>
              </a:defRPr>
            </a:pPr>
            <a:r>
              <a:t>Explainable real-time motion awareness designed for Snapdragon-powered HP PCs</a:t>
            </a:r>
          </a:p>
          <a:p>
            <a:pPr>
              <a:defRPr sz="1200" b="1">
                <a:solidFill>
                  <a:srgbClr val="008CBA"/>
                </a:solidFill>
                <a:latin typeface="Segoe UI"/>
              </a:defRPr>
            </a:pPr>
            <a:r>
              <a:t>Participant: Aniket Kapgate  |  Snapdragon AI Lab Build &amp; Present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/// CHALLENGE &amp; MARKET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8FA"/>
                </a:solidFill>
                <a:latin typeface="Segoe UI"/>
              </a:defRPr>
            </a:pPr>
            <a:r>
              <a:t>The Problem: Latency, Fragility, and Surveillance Exposure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1C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14600" cy="4206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01 / REACTIVE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F8FA"/>
                </a:solidFill>
                <a:latin typeface="Segoe UI"/>
              </a:defRPr>
            </a:pPr>
            <a:r>
              <a:t>Incident Review Happens After the Fact</a:t>
            </a:r>
          </a:p>
          <a:p>
            <a:pPr>
              <a:defRPr sz="1000">
                <a:solidFill>
                  <a:srgbClr val="A5B4BC"/>
                </a:solidFill>
                <a:latin typeface="Segoe UI"/>
              </a:defRPr>
            </a:pPr>
            <a:r>
              <a:t>In athletic coaching and facility safety, video is examined hours or days later. Supervisors lack real-time warning to intervene before injuries or trauma occur.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920240"/>
            <a:ext cx="2514600" cy="4206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20574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02 / CLOUD 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46888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F8FA"/>
                </a:solidFill>
                <a:latin typeface="Segoe UI"/>
              </a:defRPr>
            </a:pPr>
            <a:r>
              <a:t>High Latency &amp; Single Point of Failure</a:t>
            </a:r>
          </a:p>
          <a:p>
            <a:pPr>
              <a:defRPr sz="1000">
                <a:solidFill>
                  <a:srgbClr val="A5B4BC"/>
                </a:solidFill>
                <a:latin typeface="Segoe UI"/>
              </a:defRPr>
            </a:pPr>
            <a:r>
              <a:t>Cloud video analytics streams high-bandwidth video over public internet, introducing 200-800ms delays and completely collapsing during network outages.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20240"/>
            <a:ext cx="2514600" cy="4206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0574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03 / TEMPORAL BLINDNESS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46888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F8FA"/>
                </a:solidFill>
                <a:latin typeface="Segoe UI"/>
              </a:defRPr>
            </a:pPr>
            <a:r>
              <a:t>Single-Frame Models Miss Motion Context</a:t>
            </a:r>
          </a:p>
          <a:p>
            <a:pPr>
              <a:defRPr sz="1000">
                <a:solidFill>
                  <a:srgbClr val="A5B4BC"/>
                </a:solidFill>
                <a:latin typeface="Segoe UI"/>
              </a:defRPr>
            </a:pPr>
            <a:r>
              <a:t>Static single-frame object detectors cannot distinguish a high-velocity punch from an open high-five or a stumble from a dynamic athletic slide.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920240"/>
            <a:ext cx="2514600" cy="4206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20574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04 / PRIVACY VULNERABILITY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8" y="246888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F8FA"/>
                </a:solidFill>
                <a:latin typeface="Segoe UI"/>
              </a:defRPr>
            </a:pPr>
            <a:r>
              <a:t>Biometric Harvesting &amp; Facial Exposure</a:t>
            </a:r>
          </a:p>
          <a:p>
            <a:pPr>
              <a:defRPr sz="1000">
                <a:solidFill>
                  <a:srgbClr val="A5B4BC"/>
                </a:solidFill>
                <a:latin typeface="Segoe UI"/>
              </a:defRPr>
            </a:pPr>
            <a:r>
              <a:t>Streaming surveillance footage to external cloud servers creates catastrophic risks of non-consensual biometric data scraping and surveillance abuses.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/// PRODUCT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8FA"/>
                </a:solidFill>
                <a:latin typeface="Segoe UI"/>
              </a:defRPr>
            </a:pPr>
            <a:r>
              <a:t>The Solution: Edge-Native Biomechanical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1C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LOCAL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100% On-Device Execution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Processes video frames entirely in local RAM on Snapdragon PCs. Video buffers are analyzed and immediately overwritten—never uploaded.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ANONYMIZED SKELETONS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4231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Human Pose Landmarks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Extracts 9 normalized 2D skeletal landmarks (wrists, shoulders, hips, ankles). Completely strips facial identity, skin color, and background.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92024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0574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TEMPORAL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231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Multi-Frame Motion Context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Maintains a 12-frame sliding window to calculate true physical velocities, body scale growth rates, and torso aspect ratios.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ACTION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7200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6 Biomechanical Patterns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Deterministically detects Neutral, Guard, Punch-like extension, Kick-like extension, Rapid Approach, and Fall-like recumbent postures.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06908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20624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TRANSPARENT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57200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Explainable Telemetry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Outputs human-verifiable evidence strings (e.g., 'right arm reach 1.65x, speed 1.15/s') alongside bounded 0-100% threat scores.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406908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20624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HUMAN-IN-THE-LOOP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57200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Decision-Support Telemetry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Empowers coaches and safety supervisors with visual gauges and opt-in local logging. Autonomous enforcement is strictly prohibited.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/// ENGINEERING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8FA"/>
                </a:solidFill>
                <a:latin typeface="Segoe UI"/>
              </a:defRPr>
            </a:pPr>
            <a:r>
              <a:t>Technical Architecture: From Raw Pixels to Explainable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1C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1. Optical Input: </a:t>
            </a:r>
            <a:r>
              <a:rPr sz="900">
                <a:solidFill>
                  <a:srgbClr val="F5F8FA"/>
                </a:solidFill>
              </a:rPr>
              <a:t>Live Webcam (720p/1080p) or Prerecorded Video Clip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8658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2. Frame Normalization: </a:t>
            </a:r>
            <a:r>
              <a:rPr sz="900">
                <a:solidFill>
                  <a:srgbClr val="F5F8FA"/>
                </a:solidFill>
              </a:rPr>
              <a:t>OpenCV Ingestion &amp; Downsampling to 960x540 Buffer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16936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5351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3. Pose Estimation: </a:t>
            </a:r>
            <a:r>
              <a:rPr sz="900">
                <a:solidFill>
                  <a:srgbClr val="F5F8FA"/>
                </a:solidFill>
              </a:rPr>
              <a:t>MediaPipe Pose Estimator (Active Provider: MediaPipe CPU)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83864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4. Landmark Extraction: </a:t>
            </a:r>
            <a:r>
              <a:rPr sz="900">
                <a:solidFill>
                  <a:srgbClr val="F5F8FA"/>
                </a:solidFill>
              </a:rPr>
              <a:t>9 Normalized Keypoints with Visibility Confidence Gating (&gt;0.40)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50792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873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5. Temporal Sliding Window: </a:t>
            </a:r>
            <a:r>
              <a:rPr sz="900">
                <a:solidFill>
                  <a:srgbClr val="F5F8FA"/>
                </a:solidFill>
              </a:rPr>
              <a:t>12-Frame Deque Tracking Velocity &amp; Scale Growth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17720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5429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6. Kinematic Pattern Engine: </a:t>
            </a:r>
            <a:r>
              <a:rPr sz="900">
                <a:solidFill>
                  <a:srgbClr val="F5F8FA"/>
                </a:solidFill>
              </a:rPr>
              <a:t>Rule Evaluator: Fall &gt; Punch &gt; Kick &gt; Approach &gt; Guard &gt; Neutral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84648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2122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7. Threat Fusion &amp; Telemetry: </a:t>
            </a:r>
            <a:r>
              <a:rPr sz="900">
                <a:solidFill>
                  <a:srgbClr val="F5F8FA"/>
                </a:solidFill>
              </a:rPr>
              <a:t>Graduated Threat Scoring (0.0 - 1.0) &amp; Rationale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51576"/>
            <a:ext cx="5303520" cy="475488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78815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00E5FF"/>
                </a:solidFill>
              </a:rPr>
              <a:t>8. Output &amp; Storage: </a:t>
            </a:r>
            <a:r>
              <a:rPr sz="900">
                <a:solidFill>
                  <a:srgbClr val="F5F8FA"/>
                </a:solidFill>
              </a:rPr>
              <a:t>AEGIS CORE Dynamic HUD Display &amp; Local JSONL Incident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783080"/>
            <a:ext cx="5150815" cy="44805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920240"/>
            <a:ext cx="4785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AEGIS CORE TELEMETRY INTERFACE</a:t>
            </a:r>
          </a:p>
        </p:txBody>
      </p:sp>
      <p:pic>
        <p:nvPicPr>
          <p:cNvPr id="24" name="Picture 23" descr="aegis-cor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31720"/>
            <a:ext cx="4785055" cy="2688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92240" y="5120640"/>
            <a:ext cx="47850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0E5FF"/>
                </a:solidFill>
              </a:defRPr>
            </a:pPr>
            <a:r>
              <a:t>Current Verified Engine: MediaPipe CPU (Active)</a:t>
            </a:r>
          </a:p>
          <a:p>
            <a:pPr>
              <a:defRPr sz="900">
                <a:solidFill>
                  <a:srgbClr val="A5B4BC"/>
                </a:solidFill>
              </a:defRPr>
            </a:pPr>
            <a:r>
              <a:t>Heads-up display running at 960x540 featuring live FPS meter, inference latency counter, dynamic threat gauge, and pattern timeline.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/// RESPONSIBLE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8FA"/>
                </a:solidFill>
                <a:latin typeface="Segoe UI"/>
              </a:defRPr>
            </a:pPr>
            <a:r>
              <a:t>Innovation, Privacy, and Responsible Safety Safeguards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1C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ZERO FACIAL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Biometric Privacy by Design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Aegis explicitly does not analyze facial landmarks, extract biometric templates, or interface with facial databases. It is architecturally blind to human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VOLATILE FRAME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4231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No Cloud Video Uploads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All frame computations execute in volatile RAM on the local workstation. Video streams are analyzed frame-by-frame and immediately overwritten.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92024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0574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OPT-IN LOCAL LOGGING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231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Operator-Controlled Storage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Incident logging is strictly opt-in via manual toggle (R or Space). Log records reside exclusively on the host PC in artifacts/incidents.jsonl.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INTENT VS. MOTION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7200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Kinematic Signals, Not Guilt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Aegis measures biomechanical movement patterns; it does not and cannot infer criminal intent, malice, or moral culpability. Human context is mandatory.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06908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20624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DECISION-SUPPORT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57200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Prohibition of Autonomous Action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Outputs are engineered strictly for human review. Under no circumstances should Aegis trigger automated physical enforcement or disciplinary interlocks.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4069080"/>
            <a:ext cx="3429000" cy="196596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20624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SYNTHETIC EVALUATION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57200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F8FA"/>
                </a:solidFill>
                <a:latin typeface="Segoe UI"/>
              </a:defRPr>
            </a:pPr>
            <a:r>
              <a:t>Camera-Free Demonstration</a:t>
            </a:r>
          </a:p>
          <a:p>
            <a:pPr>
              <a:defRPr sz="950">
                <a:solidFill>
                  <a:srgbClr val="A5B4BC"/>
                </a:solidFill>
                <a:latin typeface="Segoe UI"/>
              </a:defRPr>
            </a:pPr>
            <a:r>
              <a:t>A deterministic synthetic demonstration mode (--demo and --export-preview) enables comprehensive validation without exposing real users or spaces.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/// HARDWARE ACCELERATION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8FA"/>
                </a:solidFill>
                <a:latin typeface="Segoe UI"/>
              </a:defRPr>
            </a:pPr>
            <a:r>
              <a:t>Qualcomm Snapdragon Optimization &amp; NPU Deployment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1C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777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1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00E5FF"/>
                </a:solidFill>
              </a:rPr>
              <a:t>[STAGE 1: FUNCTIONAL BASELINE]  </a:t>
            </a:r>
            <a:r>
              <a:rPr b="1" sz="1100">
                <a:solidFill>
                  <a:srgbClr val="F5F8FA"/>
                </a:solidFill>
              </a:rPr>
              <a:t>Current MediaPipe CPU Pipeline</a:t>
            </a:r>
          </a:p>
          <a:p>
            <a:pPr>
              <a:defRPr sz="950">
                <a:solidFill>
                  <a:srgbClr val="A5B4BC"/>
                </a:solidFill>
              </a:defRPr>
            </a:pPr>
            <a:r>
              <a:t>The validated MVP runs MediaPipe CPU to establish ground-truth algorithmic correctness, temporal stability, and deterministic test suites.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98063"/>
            <a:ext cx="10728655" cy="777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71215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00E5FF"/>
                </a:solidFill>
              </a:rPr>
              <a:t>[STAGE 2: MODEL SELECTION]  </a:t>
            </a:r>
            <a:r>
              <a:rPr b="1" sz="1100">
                <a:solidFill>
                  <a:srgbClr val="F5F8FA"/>
                </a:solidFill>
              </a:rPr>
              <a:t>Qualcomm AI Hub Model Catalog</a:t>
            </a:r>
          </a:p>
          <a:p>
            <a:pPr>
              <a:defRPr sz="950">
                <a:solidFill>
                  <a:srgbClr val="A5B4BC"/>
                </a:solidFill>
              </a:defRPr>
            </a:pPr>
            <a:r>
              <a:t>Select an edge-optimized pose model (e.g., YOLOv8n-pose or RTMPose) from Qualcomm AI Hub with proven low-latency edge topology.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21607"/>
            <a:ext cx="10728655" cy="777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94759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00E5FF"/>
                </a:solidFill>
              </a:rPr>
              <a:t>[STAGE 3: COMPILATION &amp; QUANTIZATION]  </a:t>
            </a:r>
            <a:r>
              <a:rPr b="1" sz="1100">
                <a:solidFill>
                  <a:srgbClr val="F5F8FA"/>
                </a:solidFill>
              </a:rPr>
              <a:t>INT8 / FP16 Hexagon Compilation</a:t>
            </a:r>
          </a:p>
          <a:p>
            <a:pPr>
              <a:defRPr sz="950">
                <a:solidFill>
                  <a:srgbClr val="A5B4BC"/>
                </a:solidFill>
              </a:defRPr>
            </a:pPr>
            <a:r>
              <a:t>Utilize Qualcomm AI Hub cloud toolchains to compile and quantize the model for the Hexagon NPU on Snapdragon X Elite/Plus platforms.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45151"/>
            <a:ext cx="10728655" cy="777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18303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00E5FF"/>
                </a:solidFill>
              </a:rPr>
              <a:t>[STAGE 4: RUNTIME ADAPTATION]  </a:t>
            </a:r>
            <a:r>
              <a:rPr b="1" sz="1100">
                <a:solidFill>
                  <a:srgbClr val="F5F8FA"/>
                </a:solidFill>
              </a:rPr>
              <a:t>ONNX Runtime QNN Provider</a:t>
            </a:r>
          </a:p>
          <a:p>
            <a:pPr>
              <a:defRPr sz="950">
                <a:solidFill>
                  <a:srgbClr val="A5B4BC"/>
                </a:solidFill>
              </a:defRPr>
            </a:pPr>
            <a:r>
              <a:t>Integrate compiled ONNX assets via QNNExecutionProvider with Hexagon Tensor Processor delegates (QnnHtp.dll) behind SnapdragonSession.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568695"/>
            <a:ext cx="10728655" cy="77724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41847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00E5FF"/>
                </a:solidFill>
              </a:rPr>
              <a:t>[STAGE 5: RIGOROUS BENCHMARKING]  </a:t>
            </a:r>
            <a:r>
              <a:rPr b="1" sz="1100">
                <a:solidFill>
                  <a:srgbClr val="F5F8FA"/>
                </a:solidFill>
              </a:rPr>
              <a:t>Identical-Video CPU vs QNN Benchmark</a:t>
            </a:r>
          </a:p>
          <a:p>
            <a:pPr>
              <a:defRPr sz="950">
                <a:solidFill>
                  <a:srgbClr val="A5B4BC"/>
                </a:solidFill>
              </a:defRPr>
            </a:pPr>
            <a:r>
              <a:t>Execute scripts/benchmark.py on an identical 1080p clip to measure real throughput (FPS), p95 latency reduction, and CPU offload.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i="1">
                <a:solidFill>
                  <a:srgbClr val="008CBA"/>
                </a:solidFill>
              </a:defRPr>
            </a:pPr>
            <a:r>
              <a:t>* Architectural Transparency Note: All QNN/NPU execution steps are documented as the planned optimization roadmap. Aegis currently executes and reports MediaPipe CPU.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/// VERIFICATION &amp; FUTURE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8FA"/>
                </a:solidFill>
                <a:latin typeface="Segoe UI"/>
              </a:defRPr>
            </a:pPr>
            <a:r>
              <a:t>Evidence, Real-World Impact, and Project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1C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VERIFIED CURRENT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A5B4BC"/>
                </a:solidFill>
              </a:defRPr>
            </a:pPr>
            <a:r>
              <a:t>• Functional Live Pipeline: Real-time webcam ingestion, landmark tracking, threat scoring, and HUD.</a:t>
            </a:r>
          </a:p>
          <a:p>
            <a:pPr>
              <a:spcAft>
                <a:spcPts val="800"/>
              </a:spcAft>
              <a:defRPr sz="950">
                <a:solidFill>
                  <a:srgbClr val="A5B4BC"/>
                </a:solidFill>
              </a:defRPr>
            </a:pPr>
            <a:r>
              <a:t>• 17 / 17 Tests Passing: Deterministic pytest suite verifying heuristics, safety bounds, and deduplication.</a:t>
            </a:r>
          </a:p>
          <a:p>
            <a:pPr>
              <a:spcAft>
                <a:spcPts val="800"/>
              </a:spcAft>
              <a:defRPr sz="950">
                <a:solidFill>
                  <a:srgbClr val="A5B4BC"/>
                </a:solidFill>
              </a:defRPr>
            </a:pPr>
            <a:r>
              <a:t>• Synthetic Demo Suite: Complete camera-free demonstration and visual preview exporter.</a:t>
            </a:r>
          </a:p>
          <a:p>
            <a:pPr>
              <a:spcAft>
                <a:spcPts val="800"/>
              </a:spcAft>
              <a:defRPr sz="950">
                <a:solidFill>
                  <a:srgbClr val="A5B4BC"/>
                </a:solidFill>
              </a:defRPr>
            </a:pPr>
            <a:r>
              <a:t>• Truthful Telemetry: HUD truthfully reports MediaPipe CPU provider without fabricating NPU metrics.</a:t>
            </a:r>
          </a:p>
          <a:p>
            <a:pPr>
              <a:spcAft>
                <a:spcPts val="800"/>
              </a:spcAft>
              <a:defRPr sz="950">
                <a:solidFill>
                  <a:srgbClr val="A5B4BC"/>
                </a:solidFill>
              </a:defRPr>
            </a:pPr>
            <a:r>
              <a:t>• Public GitHub Repository: github.com/aniketkapgate7-crypto/Aegis-Fight-Pattern-Analyzer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DEVELOPMENT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A5B4BC"/>
                </a:solidFill>
              </a:defRPr>
            </a:pPr>
            <a:r>
              <a:t>• QNN Pose Model Integration: Deploy Qualcomm AI Hub compiled YOLOv8-pose INT8 model to Hexagon NPU.</a:t>
            </a:r>
          </a:p>
          <a:p>
            <a:pPr>
              <a:spcAft>
                <a:spcPts val="1000"/>
              </a:spcAft>
              <a:defRPr sz="950">
                <a:solidFill>
                  <a:srgbClr val="A5B4BC"/>
                </a:solidFill>
              </a:defRPr>
            </a:pPr>
            <a:r>
              <a:t>• Snapdragon PC Benchmarking: Evaluate throughput, latency, and power on Snapdragon X Elite HP laptops.</a:t>
            </a:r>
          </a:p>
          <a:p>
            <a:pPr>
              <a:spcAft>
                <a:spcPts val="1000"/>
              </a:spcAft>
              <a:defRPr sz="950">
                <a:solidFill>
                  <a:srgbClr val="A5B4BC"/>
                </a:solidFill>
              </a:defRPr>
            </a:pPr>
            <a:r>
              <a:t>• Multi-Person Interaction: Extend kinematic engine to multi-subject spatial distance tracking.</a:t>
            </a:r>
          </a:p>
          <a:p>
            <a:pPr>
              <a:spcAft>
                <a:spcPts val="1000"/>
              </a:spcAft>
              <a:defRPr sz="950">
                <a:solidFill>
                  <a:srgbClr val="A5B4BC"/>
                </a:solidFill>
              </a:defRPr>
            </a:pPr>
            <a:r>
              <a:t>• Curated Validation Dataset: Benchmark against controlled athletic sparring clips for recall/precision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413455" cy="4297680"/>
          </a:xfrm>
          <a:prstGeom prst="roundRect">
            <a:avLst/>
          </a:prstGeom>
          <a:solidFill>
            <a:srgbClr val="0E1E28"/>
          </a:solidFill>
          <a:ln w="12700">
            <a:solidFill>
              <a:srgbClr val="1C3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4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Segoe UI"/>
              </a:defRPr>
            </a:pPr>
            <a:r>
              <a:t>CLOSING VALUE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0476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0E5FF"/>
                </a:solidFill>
              </a:defRPr>
            </a:pPr>
            <a:r>
              <a:t>Edge-Native Motion Intelligence</a:t>
            </a:r>
          </a:p>
          <a:p>
            <a:pPr>
              <a:spcAft>
                <a:spcPts val="1400"/>
              </a:spcAft>
              <a:defRPr sz="1000">
                <a:solidFill>
                  <a:srgbClr val="F5F8FA"/>
                </a:solidFill>
              </a:defRPr>
            </a:pPr>
            <a:r>
              <a:t>Aegis proves that advanced physical motion intelligence can run fully on-device without compromising personal privacy, streaming raw video to cloud servers, or harvesting facial biometrics.</a:t>
            </a:r>
          </a:p>
          <a:p>
            <a:pPr>
              <a:defRPr sz="1000">
                <a:solidFill>
                  <a:srgbClr val="A5B4BC"/>
                </a:solidFill>
              </a:defRPr>
            </a:pPr>
            <a:r>
              <a:t>Designed for Snapdragon-powered HP PCs, Aegis showcases the transformative potential of edge NPU acceleration for human-in-the-loop safety and athletic intelligence.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