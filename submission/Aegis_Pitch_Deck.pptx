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45920"/>
            <a:ext cx="73152" cy="329184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601200" cy="3291840"/>
          </a:xfrm>
          <a:prstGeom prst="rect">
            <a:avLst/>
          </a:prstGeom>
          <a:noFill/>
        </p:spPr>
        <p:txBody>
          <a:bodyPr wrap="square">
            <a:spAutoFit/>
          </a:bodyPr>
          <a:lstStyle/>
          <a:p>
            <a:pPr>
              <a:defRPr sz="4400" b="1">
                <a:solidFill>
                  <a:srgbClr val="00E5FF"/>
                </a:solidFill>
                <a:latin typeface="Segoe UI"/>
              </a:defRPr>
            </a:pPr>
            <a:r>
              <a:t>AEGIS</a:t>
            </a:r>
          </a:p>
          <a:p>
            <a:pPr>
              <a:spcAft>
                <a:spcPts val="1400"/>
              </a:spcAft>
              <a:defRPr sz="2600" b="1">
                <a:solidFill>
                  <a:srgbClr val="F5F8FA"/>
                </a:solidFill>
                <a:latin typeface="Segoe UI"/>
              </a:defRPr>
            </a:pPr>
            <a:r>
              <a:t>Privacy-Preserving On-Device Combat Motion Intelligence</a:t>
            </a:r>
          </a:p>
          <a:p>
            <a:pPr>
              <a:spcAft>
                <a:spcPts val="2400"/>
              </a:spcAft>
              <a:defRPr sz="1500">
                <a:solidFill>
                  <a:srgbClr val="A5B4BC"/>
                </a:solidFill>
                <a:latin typeface="Segoe UI"/>
              </a:defRPr>
            </a:pPr>
            <a:r>
              <a:t>Explainable real-time motion awareness designed for Snapdragon-powered HP PCs</a:t>
            </a:r>
          </a:p>
          <a:p>
            <a:pPr>
              <a:defRPr sz="1200" b="1">
                <a:solidFill>
                  <a:srgbClr val="008CBA"/>
                </a:solidFill>
                <a:latin typeface="Segoe UI"/>
              </a:defRPr>
            </a:pPr>
            <a:r>
              <a:t>Participant: Aniket Kapgate  |  Snapdragon AI Lab Build &amp; Present Challenge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00E5FF"/>
                </a:solidFill>
                <a:latin typeface="Segoe UI"/>
              </a:defRPr>
            </a:pPr>
            <a:r>
              <a:t>/// CHALLENGE &amp; MARKET NEED</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5F8FA"/>
                </a:solidFill>
                <a:latin typeface="Segoe UI"/>
              </a:defRPr>
            </a:pPr>
            <a:r>
              <a:t>The Problem: Latency, Fragility, and Surveillance Exposure</a:t>
            </a:r>
          </a:p>
        </p:txBody>
      </p:sp>
      <p:sp>
        <p:nvSpPr>
          <p:cNvPr id="5" name="Rectangle 4"/>
          <p:cNvSpPr/>
          <p:nvPr/>
        </p:nvSpPr>
        <p:spPr>
          <a:xfrm>
            <a:off x="731520" y="1508760"/>
            <a:ext cx="10728655" cy="18288"/>
          </a:xfrm>
          <a:prstGeom prst="rect">
            <a:avLst/>
          </a:prstGeom>
          <a:solidFill>
            <a:srgbClr val="1C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2514600" cy="4206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2148840" cy="365760"/>
          </a:xfrm>
          <a:prstGeom prst="rect">
            <a:avLst/>
          </a:prstGeom>
          <a:noFill/>
        </p:spPr>
        <p:txBody>
          <a:bodyPr wrap="square">
            <a:spAutoFit/>
          </a:bodyPr>
          <a:lstStyle/>
          <a:p>
            <a:pPr>
              <a:defRPr sz="1300" b="1">
                <a:solidFill>
                  <a:srgbClr val="00E5FF"/>
                </a:solidFill>
                <a:latin typeface="Segoe UI"/>
              </a:defRPr>
            </a:pPr>
            <a:r>
              <a:t>01 / REACTIVE REVIEW</a:t>
            </a:r>
          </a:p>
        </p:txBody>
      </p:sp>
      <p:sp>
        <p:nvSpPr>
          <p:cNvPr id="8" name="TextBox 7"/>
          <p:cNvSpPr txBox="1"/>
          <p:nvPr/>
        </p:nvSpPr>
        <p:spPr>
          <a:xfrm>
            <a:off x="914400" y="2468880"/>
            <a:ext cx="2148840" cy="3474720"/>
          </a:xfrm>
          <a:prstGeom prst="rect">
            <a:avLst/>
          </a:prstGeom>
          <a:noFill/>
        </p:spPr>
        <p:txBody>
          <a:bodyPr wrap="square">
            <a:spAutoFit/>
          </a:bodyPr>
          <a:lstStyle/>
          <a:p>
            <a:pPr>
              <a:spcAft>
                <a:spcPts val="1200"/>
              </a:spcAft>
              <a:defRPr sz="1300" b="1">
                <a:solidFill>
                  <a:srgbClr val="F5F8FA"/>
                </a:solidFill>
                <a:latin typeface="Segoe UI"/>
              </a:defRPr>
            </a:pPr>
            <a:r>
              <a:t>Incident Review Happens After the Fact</a:t>
            </a:r>
          </a:p>
          <a:p>
            <a:pPr>
              <a:defRPr sz="1000">
                <a:solidFill>
                  <a:srgbClr val="A5B4BC"/>
                </a:solidFill>
                <a:latin typeface="Segoe UI"/>
              </a:defRPr>
            </a:pPr>
            <a:r>
              <a:t>In athletic coaching and facility safety, video is examined hours or days later. Supervisors lack real-time warning to intervene before injuries or trauma occur.</a:t>
            </a:r>
          </a:p>
        </p:txBody>
      </p:sp>
      <p:sp>
        <p:nvSpPr>
          <p:cNvPr id="9" name="Rounded Rectangle 8"/>
          <p:cNvSpPr/>
          <p:nvPr/>
        </p:nvSpPr>
        <p:spPr>
          <a:xfrm>
            <a:off x="3465576" y="1920240"/>
            <a:ext cx="2514600" cy="4206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057400"/>
            <a:ext cx="2148840" cy="365760"/>
          </a:xfrm>
          <a:prstGeom prst="rect">
            <a:avLst/>
          </a:prstGeom>
          <a:noFill/>
        </p:spPr>
        <p:txBody>
          <a:bodyPr wrap="square">
            <a:spAutoFit/>
          </a:bodyPr>
          <a:lstStyle/>
          <a:p>
            <a:pPr>
              <a:defRPr sz="1300" b="1">
                <a:solidFill>
                  <a:srgbClr val="00E5FF"/>
                </a:solidFill>
                <a:latin typeface="Segoe UI"/>
              </a:defRPr>
            </a:pPr>
            <a:r>
              <a:t>02 / CLOUD DEPENDENCE</a:t>
            </a:r>
          </a:p>
        </p:txBody>
      </p:sp>
      <p:sp>
        <p:nvSpPr>
          <p:cNvPr id="11" name="TextBox 10"/>
          <p:cNvSpPr txBox="1"/>
          <p:nvPr/>
        </p:nvSpPr>
        <p:spPr>
          <a:xfrm>
            <a:off x="3648456" y="2468880"/>
            <a:ext cx="2148840" cy="3474720"/>
          </a:xfrm>
          <a:prstGeom prst="rect">
            <a:avLst/>
          </a:prstGeom>
          <a:noFill/>
        </p:spPr>
        <p:txBody>
          <a:bodyPr wrap="square">
            <a:spAutoFit/>
          </a:bodyPr>
          <a:lstStyle/>
          <a:p>
            <a:pPr>
              <a:spcAft>
                <a:spcPts val="1200"/>
              </a:spcAft>
              <a:defRPr sz="1300" b="1">
                <a:solidFill>
                  <a:srgbClr val="F5F8FA"/>
                </a:solidFill>
                <a:latin typeface="Segoe UI"/>
              </a:defRPr>
            </a:pPr>
            <a:r>
              <a:t>High Latency &amp; Single Point of Failure</a:t>
            </a:r>
          </a:p>
          <a:p>
            <a:pPr>
              <a:defRPr sz="1000">
                <a:solidFill>
                  <a:srgbClr val="A5B4BC"/>
                </a:solidFill>
                <a:latin typeface="Segoe UI"/>
              </a:defRPr>
            </a:pPr>
            <a:r>
              <a:t>Cloud video analytics streams high-bandwidth video over public internet, introducing 200-800ms delays and completely collapsing during network outages.</a:t>
            </a:r>
          </a:p>
        </p:txBody>
      </p:sp>
      <p:sp>
        <p:nvSpPr>
          <p:cNvPr id="12" name="Rounded Rectangle 11"/>
          <p:cNvSpPr/>
          <p:nvPr/>
        </p:nvSpPr>
        <p:spPr>
          <a:xfrm>
            <a:off x="6199632" y="1920240"/>
            <a:ext cx="2514600" cy="4206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2057400"/>
            <a:ext cx="2148840" cy="365760"/>
          </a:xfrm>
          <a:prstGeom prst="rect">
            <a:avLst/>
          </a:prstGeom>
          <a:noFill/>
        </p:spPr>
        <p:txBody>
          <a:bodyPr wrap="square">
            <a:spAutoFit/>
          </a:bodyPr>
          <a:lstStyle/>
          <a:p>
            <a:pPr>
              <a:defRPr sz="1300" b="1">
                <a:solidFill>
                  <a:srgbClr val="00E5FF"/>
                </a:solidFill>
                <a:latin typeface="Segoe UI"/>
              </a:defRPr>
            </a:pPr>
            <a:r>
              <a:t>03 / TEMPORAL BLINDNESS</a:t>
            </a:r>
          </a:p>
        </p:txBody>
      </p:sp>
      <p:sp>
        <p:nvSpPr>
          <p:cNvPr id="14" name="TextBox 13"/>
          <p:cNvSpPr txBox="1"/>
          <p:nvPr/>
        </p:nvSpPr>
        <p:spPr>
          <a:xfrm>
            <a:off x="6382512" y="2468880"/>
            <a:ext cx="2148840" cy="3474720"/>
          </a:xfrm>
          <a:prstGeom prst="rect">
            <a:avLst/>
          </a:prstGeom>
          <a:noFill/>
        </p:spPr>
        <p:txBody>
          <a:bodyPr wrap="square">
            <a:spAutoFit/>
          </a:bodyPr>
          <a:lstStyle/>
          <a:p>
            <a:pPr>
              <a:spcAft>
                <a:spcPts val="1200"/>
              </a:spcAft>
              <a:defRPr sz="1300" b="1">
                <a:solidFill>
                  <a:srgbClr val="F5F8FA"/>
                </a:solidFill>
                <a:latin typeface="Segoe UI"/>
              </a:defRPr>
            </a:pPr>
            <a:r>
              <a:t>Single-Frame Models Miss Motion Context</a:t>
            </a:r>
          </a:p>
          <a:p>
            <a:pPr>
              <a:defRPr sz="1000">
                <a:solidFill>
                  <a:srgbClr val="A5B4BC"/>
                </a:solidFill>
                <a:latin typeface="Segoe UI"/>
              </a:defRPr>
            </a:pPr>
            <a:r>
              <a:t>Static single-frame object detectors cannot distinguish a high-velocity punch from an open high-five or a stumble from a dynamic athletic slide.</a:t>
            </a:r>
          </a:p>
        </p:txBody>
      </p:sp>
      <p:sp>
        <p:nvSpPr>
          <p:cNvPr id="15" name="Rounded Rectangle 14"/>
          <p:cNvSpPr/>
          <p:nvPr/>
        </p:nvSpPr>
        <p:spPr>
          <a:xfrm>
            <a:off x="8933688" y="1920240"/>
            <a:ext cx="2514600" cy="4206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2057400"/>
            <a:ext cx="2148840" cy="365760"/>
          </a:xfrm>
          <a:prstGeom prst="rect">
            <a:avLst/>
          </a:prstGeom>
          <a:noFill/>
        </p:spPr>
        <p:txBody>
          <a:bodyPr wrap="square">
            <a:spAutoFit/>
          </a:bodyPr>
          <a:lstStyle/>
          <a:p>
            <a:pPr>
              <a:defRPr sz="1300" b="1">
                <a:solidFill>
                  <a:srgbClr val="00E5FF"/>
                </a:solidFill>
                <a:latin typeface="Segoe UI"/>
              </a:defRPr>
            </a:pPr>
            <a:r>
              <a:t>04 / PRIVACY VULNERABILITY</a:t>
            </a:r>
          </a:p>
        </p:txBody>
      </p:sp>
      <p:sp>
        <p:nvSpPr>
          <p:cNvPr id="17" name="TextBox 16"/>
          <p:cNvSpPr txBox="1"/>
          <p:nvPr/>
        </p:nvSpPr>
        <p:spPr>
          <a:xfrm>
            <a:off x="9116568" y="2468880"/>
            <a:ext cx="2148840" cy="3474720"/>
          </a:xfrm>
          <a:prstGeom prst="rect">
            <a:avLst/>
          </a:prstGeom>
          <a:noFill/>
        </p:spPr>
        <p:txBody>
          <a:bodyPr wrap="square">
            <a:spAutoFit/>
          </a:bodyPr>
          <a:lstStyle/>
          <a:p>
            <a:pPr>
              <a:spcAft>
                <a:spcPts val="1200"/>
              </a:spcAft>
              <a:defRPr sz="1300" b="1">
                <a:solidFill>
                  <a:srgbClr val="F5F8FA"/>
                </a:solidFill>
                <a:latin typeface="Segoe UI"/>
              </a:defRPr>
            </a:pPr>
            <a:r>
              <a:t>Biometric Harvesting &amp; Facial Exposure</a:t>
            </a:r>
          </a:p>
          <a:p>
            <a:pPr>
              <a:defRPr sz="1000">
                <a:solidFill>
                  <a:srgbClr val="A5B4BC"/>
                </a:solidFill>
                <a:latin typeface="Segoe UI"/>
              </a:defRPr>
            </a:pPr>
            <a:r>
              <a:t>Streaming surveillance footage to external cloud servers creates catastrophic risks of non-consensual biometric data scraping and surveillance abuses.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00E5FF"/>
                </a:solidFill>
                <a:latin typeface="Segoe UI"/>
              </a:defRPr>
            </a:pPr>
            <a:r>
              <a:t>/// PRODUCT VISION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5F8FA"/>
                </a:solidFill>
                <a:latin typeface="Segoe UI"/>
              </a:defRPr>
            </a:pPr>
            <a:r>
              <a:t>The Solution: Edge-Native Biomechanical Intelligence</a:t>
            </a:r>
          </a:p>
        </p:txBody>
      </p:sp>
      <p:sp>
        <p:nvSpPr>
          <p:cNvPr id="5" name="Rectangle 4"/>
          <p:cNvSpPr/>
          <p:nvPr/>
        </p:nvSpPr>
        <p:spPr>
          <a:xfrm>
            <a:off x="731520" y="1508760"/>
            <a:ext cx="10728655" cy="18288"/>
          </a:xfrm>
          <a:prstGeom prst="rect">
            <a:avLst/>
          </a:prstGeom>
          <a:solidFill>
            <a:srgbClr val="1C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3063240" cy="365760"/>
          </a:xfrm>
          <a:prstGeom prst="rect">
            <a:avLst/>
          </a:prstGeom>
          <a:noFill/>
        </p:spPr>
        <p:txBody>
          <a:bodyPr wrap="square">
            <a:spAutoFit/>
          </a:bodyPr>
          <a:lstStyle/>
          <a:p>
            <a:pPr>
              <a:defRPr sz="1300" b="1">
                <a:solidFill>
                  <a:srgbClr val="00E5FF"/>
                </a:solidFill>
                <a:latin typeface="Segoe UI"/>
              </a:defRPr>
            </a:pPr>
            <a:r>
              <a:t>LOCAL PROCESSING</a:t>
            </a:r>
          </a:p>
        </p:txBody>
      </p:sp>
      <p:sp>
        <p:nvSpPr>
          <p:cNvPr id="8" name="TextBox 7"/>
          <p:cNvSpPr txBox="1"/>
          <p:nvPr/>
        </p:nvSpPr>
        <p:spPr>
          <a:xfrm>
            <a:off x="914400" y="2423160"/>
            <a:ext cx="3063240" cy="1280160"/>
          </a:xfrm>
          <a:prstGeom prst="rect">
            <a:avLst/>
          </a:prstGeom>
          <a:noFill/>
        </p:spPr>
        <p:txBody>
          <a:bodyPr wrap="square">
            <a:spAutoFit/>
          </a:bodyPr>
          <a:lstStyle/>
          <a:p>
            <a:pPr>
              <a:spcAft>
                <a:spcPts val="400"/>
              </a:spcAft>
              <a:defRPr sz="1200" b="1">
                <a:solidFill>
                  <a:srgbClr val="F5F8FA"/>
                </a:solidFill>
                <a:latin typeface="Segoe UI"/>
              </a:defRPr>
            </a:pPr>
            <a:r>
              <a:t>100% On-Device Execution</a:t>
            </a:r>
          </a:p>
          <a:p>
            <a:pPr>
              <a:defRPr sz="950">
                <a:solidFill>
                  <a:srgbClr val="A5B4BC"/>
                </a:solidFill>
                <a:latin typeface="Segoe UI"/>
              </a:defRPr>
            </a:pPr>
            <a:r>
              <a:t>Processes video frames entirely in local RAM on Snapdragon PCs. Video buffers are analyzed and immediately overwritten—never uploaded.</a:t>
            </a:r>
          </a:p>
        </p:txBody>
      </p:sp>
      <p:sp>
        <p:nvSpPr>
          <p:cNvPr id="9" name="Rounded Rectangle 8"/>
          <p:cNvSpPr/>
          <p:nvPr/>
        </p:nvSpPr>
        <p:spPr>
          <a:xfrm>
            <a:off x="4343400" y="192024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057400"/>
            <a:ext cx="3063240" cy="365760"/>
          </a:xfrm>
          <a:prstGeom prst="rect">
            <a:avLst/>
          </a:prstGeom>
          <a:noFill/>
        </p:spPr>
        <p:txBody>
          <a:bodyPr wrap="square">
            <a:spAutoFit/>
          </a:bodyPr>
          <a:lstStyle/>
          <a:p>
            <a:pPr>
              <a:defRPr sz="1300" b="1">
                <a:solidFill>
                  <a:srgbClr val="00E5FF"/>
                </a:solidFill>
                <a:latin typeface="Segoe UI"/>
              </a:defRPr>
            </a:pPr>
            <a:r>
              <a:t>ANONYMIZED SKELETONS</a:t>
            </a:r>
          </a:p>
        </p:txBody>
      </p:sp>
      <p:sp>
        <p:nvSpPr>
          <p:cNvPr id="11" name="TextBox 10"/>
          <p:cNvSpPr txBox="1"/>
          <p:nvPr/>
        </p:nvSpPr>
        <p:spPr>
          <a:xfrm>
            <a:off x="4526280" y="2423160"/>
            <a:ext cx="3063240" cy="1280160"/>
          </a:xfrm>
          <a:prstGeom prst="rect">
            <a:avLst/>
          </a:prstGeom>
          <a:noFill/>
        </p:spPr>
        <p:txBody>
          <a:bodyPr wrap="square">
            <a:spAutoFit/>
          </a:bodyPr>
          <a:lstStyle/>
          <a:p>
            <a:pPr>
              <a:spcAft>
                <a:spcPts val="400"/>
              </a:spcAft>
              <a:defRPr sz="1200" b="1">
                <a:solidFill>
                  <a:srgbClr val="F5F8FA"/>
                </a:solidFill>
                <a:latin typeface="Segoe UI"/>
              </a:defRPr>
            </a:pPr>
            <a:r>
              <a:t>Human Pose Landmarks</a:t>
            </a:r>
          </a:p>
          <a:p>
            <a:pPr>
              <a:defRPr sz="950">
                <a:solidFill>
                  <a:srgbClr val="A5B4BC"/>
                </a:solidFill>
                <a:latin typeface="Segoe UI"/>
              </a:defRPr>
            </a:pPr>
            <a:r>
              <a:t>Extracts 9 normalized 2D skeletal landmarks (wrists, shoulders, hips, ankles). Aegis does not perform face recognition, face identification, facial embeddings or biometric identity tracking. One coarse nose keypoint is used only for pose geometry.</a:t>
            </a:r>
          </a:p>
        </p:txBody>
      </p:sp>
      <p:sp>
        <p:nvSpPr>
          <p:cNvPr id="12" name="Rounded Rectangle 11"/>
          <p:cNvSpPr/>
          <p:nvPr/>
        </p:nvSpPr>
        <p:spPr>
          <a:xfrm>
            <a:off x="7955280" y="192024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057400"/>
            <a:ext cx="3063240" cy="365760"/>
          </a:xfrm>
          <a:prstGeom prst="rect">
            <a:avLst/>
          </a:prstGeom>
          <a:noFill/>
        </p:spPr>
        <p:txBody>
          <a:bodyPr wrap="square">
            <a:spAutoFit/>
          </a:bodyPr>
          <a:lstStyle/>
          <a:p>
            <a:pPr>
              <a:defRPr sz="1300" b="1">
                <a:solidFill>
                  <a:srgbClr val="00E5FF"/>
                </a:solidFill>
                <a:latin typeface="Segoe UI"/>
              </a:defRPr>
            </a:pPr>
            <a:r>
              <a:t>TEMPORAL WINDOWS</a:t>
            </a:r>
          </a:p>
        </p:txBody>
      </p:sp>
      <p:sp>
        <p:nvSpPr>
          <p:cNvPr id="14" name="TextBox 13"/>
          <p:cNvSpPr txBox="1"/>
          <p:nvPr/>
        </p:nvSpPr>
        <p:spPr>
          <a:xfrm>
            <a:off x="8138160" y="2423160"/>
            <a:ext cx="3063240" cy="1280160"/>
          </a:xfrm>
          <a:prstGeom prst="rect">
            <a:avLst/>
          </a:prstGeom>
          <a:noFill/>
        </p:spPr>
        <p:txBody>
          <a:bodyPr wrap="square">
            <a:spAutoFit/>
          </a:bodyPr>
          <a:lstStyle/>
          <a:p>
            <a:pPr>
              <a:spcAft>
                <a:spcPts val="400"/>
              </a:spcAft>
              <a:defRPr sz="1200" b="1">
                <a:solidFill>
                  <a:srgbClr val="F5F8FA"/>
                </a:solidFill>
                <a:latin typeface="Segoe UI"/>
              </a:defRPr>
            </a:pPr>
            <a:r>
              <a:t>Multi-Frame Motion Context</a:t>
            </a:r>
          </a:p>
          <a:p>
            <a:pPr>
              <a:defRPr sz="950">
                <a:solidFill>
                  <a:srgbClr val="A5B4BC"/>
                </a:solidFill>
                <a:latin typeface="Segoe UI"/>
              </a:defRPr>
            </a:pPr>
            <a:r>
              <a:t>Maintains a 12-frame sliding window to calculate true physical velocities, body scale growth rates, and torso aspect ratios.</a:t>
            </a:r>
          </a:p>
        </p:txBody>
      </p:sp>
      <p:sp>
        <p:nvSpPr>
          <p:cNvPr id="15" name="Rounded Rectangle 14"/>
          <p:cNvSpPr/>
          <p:nvPr/>
        </p:nvSpPr>
        <p:spPr>
          <a:xfrm>
            <a:off x="731520" y="406908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06240"/>
            <a:ext cx="3063240" cy="365760"/>
          </a:xfrm>
          <a:prstGeom prst="rect">
            <a:avLst/>
          </a:prstGeom>
          <a:noFill/>
        </p:spPr>
        <p:txBody>
          <a:bodyPr wrap="square">
            <a:spAutoFit/>
          </a:bodyPr>
          <a:lstStyle/>
          <a:p>
            <a:pPr>
              <a:defRPr sz="1300" b="1">
                <a:solidFill>
                  <a:srgbClr val="00E5FF"/>
                </a:solidFill>
                <a:latin typeface="Segoe UI"/>
              </a:defRPr>
            </a:pPr>
            <a:r>
              <a:t>ACTION VOCABULARY</a:t>
            </a:r>
          </a:p>
        </p:txBody>
      </p:sp>
      <p:sp>
        <p:nvSpPr>
          <p:cNvPr id="17" name="TextBox 16"/>
          <p:cNvSpPr txBox="1"/>
          <p:nvPr/>
        </p:nvSpPr>
        <p:spPr>
          <a:xfrm>
            <a:off x="914400" y="4572000"/>
            <a:ext cx="3063240" cy="1280160"/>
          </a:xfrm>
          <a:prstGeom prst="rect">
            <a:avLst/>
          </a:prstGeom>
          <a:noFill/>
        </p:spPr>
        <p:txBody>
          <a:bodyPr wrap="square">
            <a:spAutoFit/>
          </a:bodyPr>
          <a:lstStyle/>
          <a:p>
            <a:pPr>
              <a:spcAft>
                <a:spcPts val="400"/>
              </a:spcAft>
              <a:defRPr sz="1200" b="1">
                <a:solidFill>
                  <a:srgbClr val="F5F8FA"/>
                </a:solidFill>
                <a:latin typeface="Segoe UI"/>
              </a:defRPr>
            </a:pPr>
            <a:r>
              <a:t>6 Biomechanical Patterns</a:t>
            </a:r>
          </a:p>
          <a:p>
            <a:pPr>
              <a:defRPr sz="950">
                <a:solidFill>
                  <a:srgbClr val="A5B4BC"/>
                </a:solidFill>
                <a:latin typeface="Segoe UI"/>
              </a:defRPr>
            </a:pPr>
            <a:r>
              <a:t>Deterministically detects Neutral, Guard, Punch-like extension, Kick-like extension, Rapid Approach, and Fall-like recumbent postures.</a:t>
            </a:r>
          </a:p>
        </p:txBody>
      </p:sp>
      <p:sp>
        <p:nvSpPr>
          <p:cNvPr id="18" name="Rounded Rectangle 17"/>
          <p:cNvSpPr/>
          <p:nvPr/>
        </p:nvSpPr>
        <p:spPr>
          <a:xfrm>
            <a:off x="4343400" y="406908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4206240"/>
            <a:ext cx="3063240" cy="365760"/>
          </a:xfrm>
          <a:prstGeom prst="rect">
            <a:avLst/>
          </a:prstGeom>
          <a:noFill/>
        </p:spPr>
        <p:txBody>
          <a:bodyPr wrap="square">
            <a:spAutoFit/>
          </a:bodyPr>
          <a:lstStyle/>
          <a:p>
            <a:pPr>
              <a:defRPr sz="1300" b="1">
                <a:solidFill>
                  <a:srgbClr val="00E5FF"/>
                </a:solidFill>
                <a:latin typeface="Segoe UI"/>
              </a:defRPr>
            </a:pPr>
            <a:r>
              <a:t>TRANSPARENT METRICS</a:t>
            </a:r>
          </a:p>
        </p:txBody>
      </p:sp>
      <p:sp>
        <p:nvSpPr>
          <p:cNvPr id="20" name="TextBox 19"/>
          <p:cNvSpPr txBox="1"/>
          <p:nvPr/>
        </p:nvSpPr>
        <p:spPr>
          <a:xfrm>
            <a:off x="4526280" y="4572000"/>
            <a:ext cx="3063240" cy="1280160"/>
          </a:xfrm>
          <a:prstGeom prst="rect">
            <a:avLst/>
          </a:prstGeom>
          <a:noFill/>
        </p:spPr>
        <p:txBody>
          <a:bodyPr wrap="square">
            <a:spAutoFit/>
          </a:bodyPr>
          <a:lstStyle/>
          <a:p>
            <a:pPr>
              <a:spcAft>
                <a:spcPts val="400"/>
              </a:spcAft>
              <a:defRPr sz="1200" b="1">
                <a:solidFill>
                  <a:srgbClr val="F5F8FA"/>
                </a:solidFill>
                <a:latin typeface="Segoe UI"/>
              </a:defRPr>
            </a:pPr>
            <a:r>
              <a:t>Explainable Telemetry</a:t>
            </a:r>
          </a:p>
          <a:p>
            <a:pPr>
              <a:defRPr sz="950">
                <a:solidFill>
                  <a:srgbClr val="A5B4BC"/>
                </a:solidFill>
                <a:latin typeface="Segoe UI"/>
              </a:defRPr>
            </a:pPr>
            <a:r>
              <a:t>Outputs human-verifiable evidence strings (e.g., 'right arm reach 1.65x, speed 1.15/s') alongside bounded 0-100% threat scores.</a:t>
            </a:r>
          </a:p>
        </p:txBody>
      </p:sp>
      <p:sp>
        <p:nvSpPr>
          <p:cNvPr id="21" name="Rounded Rectangle 20"/>
          <p:cNvSpPr/>
          <p:nvPr/>
        </p:nvSpPr>
        <p:spPr>
          <a:xfrm>
            <a:off x="7955280" y="406908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4206240"/>
            <a:ext cx="3063240" cy="365760"/>
          </a:xfrm>
          <a:prstGeom prst="rect">
            <a:avLst/>
          </a:prstGeom>
          <a:noFill/>
        </p:spPr>
        <p:txBody>
          <a:bodyPr wrap="square">
            <a:spAutoFit/>
          </a:bodyPr>
          <a:lstStyle/>
          <a:p>
            <a:pPr>
              <a:defRPr sz="1300" b="1">
                <a:solidFill>
                  <a:srgbClr val="00E5FF"/>
                </a:solidFill>
                <a:latin typeface="Segoe UI"/>
              </a:defRPr>
            </a:pPr>
            <a:r>
              <a:t>HUMAN-IN-THE-LOOP</a:t>
            </a:r>
          </a:p>
        </p:txBody>
      </p:sp>
      <p:sp>
        <p:nvSpPr>
          <p:cNvPr id="23" name="TextBox 22"/>
          <p:cNvSpPr txBox="1"/>
          <p:nvPr/>
        </p:nvSpPr>
        <p:spPr>
          <a:xfrm>
            <a:off x="8138160" y="4572000"/>
            <a:ext cx="3063240" cy="1280160"/>
          </a:xfrm>
          <a:prstGeom prst="rect">
            <a:avLst/>
          </a:prstGeom>
          <a:noFill/>
        </p:spPr>
        <p:txBody>
          <a:bodyPr wrap="square">
            <a:spAutoFit/>
          </a:bodyPr>
          <a:lstStyle/>
          <a:p>
            <a:pPr>
              <a:spcAft>
                <a:spcPts val="400"/>
              </a:spcAft>
              <a:defRPr sz="1200" b="1">
                <a:solidFill>
                  <a:srgbClr val="F5F8FA"/>
                </a:solidFill>
                <a:latin typeface="Segoe UI"/>
              </a:defRPr>
            </a:pPr>
            <a:r>
              <a:t>Decision-Support Telemetry</a:t>
            </a:r>
          </a:p>
          <a:p>
            <a:pPr>
              <a:defRPr sz="950">
                <a:solidFill>
                  <a:srgbClr val="A5B4BC"/>
                </a:solidFill>
                <a:latin typeface="Segoe UI"/>
              </a:defRPr>
            </a:pPr>
            <a:r>
              <a:t>Empowers coaches and safety supervisors with visual gauges and opt-in local logging. Autonomous enforcement is strictly prohibited.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00E5FF"/>
                </a:solidFill>
                <a:latin typeface="Segoe UI"/>
              </a:defRPr>
            </a:pPr>
            <a:r>
              <a:t>/// ENGINEERING PIPELINE</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5F8FA"/>
                </a:solidFill>
                <a:latin typeface="Segoe UI"/>
              </a:defRPr>
            </a:pPr>
            <a:r>
              <a:t>Technical Architecture: From Raw Pixels to Explainable Alerts</a:t>
            </a:r>
          </a:p>
        </p:txBody>
      </p:sp>
      <p:sp>
        <p:nvSpPr>
          <p:cNvPr id="5" name="Rectangle 4"/>
          <p:cNvSpPr/>
          <p:nvPr/>
        </p:nvSpPr>
        <p:spPr>
          <a:xfrm>
            <a:off x="731520" y="1508760"/>
            <a:ext cx="10728655" cy="18288"/>
          </a:xfrm>
          <a:prstGeom prst="rect">
            <a:avLst/>
          </a:prstGeom>
          <a:solidFill>
            <a:srgbClr val="1C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83080"/>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19656"/>
            <a:ext cx="5120640" cy="402336"/>
          </a:xfrm>
          <a:prstGeom prst="rect">
            <a:avLst/>
          </a:prstGeom>
          <a:noFill/>
        </p:spPr>
        <p:txBody>
          <a:bodyPr wrap="square">
            <a:spAutoFit/>
          </a:bodyPr>
          <a:lstStyle/>
          <a:p>
            <a:r>
              <a:rPr b="1" sz="950">
                <a:solidFill>
                  <a:srgbClr val="00E5FF"/>
                </a:solidFill>
              </a:rPr>
              <a:t>1. Optical Input: </a:t>
            </a:r>
            <a:r>
              <a:rPr sz="900">
                <a:solidFill>
                  <a:srgbClr val="F5F8FA"/>
                </a:solidFill>
              </a:rPr>
              <a:t>Live Webcam (720p/1080p) or Prerecorded Video Clip</a:t>
            </a:r>
          </a:p>
        </p:txBody>
      </p:sp>
      <p:sp>
        <p:nvSpPr>
          <p:cNvPr id="8" name="Rounded Rectangle 7"/>
          <p:cNvSpPr/>
          <p:nvPr/>
        </p:nvSpPr>
        <p:spPr>
          <a:xfrm>
            <a:off x="731520" y="2350008"/>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86584"/>
            <a:ext cx="5120640" cy="402336"/>
          </a:xfrm>
          <a:prstGeom prst="rect">
            <a:avLst/>
          </a:prstGeom>
          <a:noFill/>
        </p:spPr>
        <p:txBody>
          <a:bodyPr wrap="square">
            <a:spAutoFit/>
          </a:bodyPr>
          <a:lstStyle/>
          <a:p>
            <a:r>
              <a:rPr b="1" sz="950">
                <a:solidFill>
                  <a:srgbClr val="00E5FF"/>
                </a:solidFill>
              </a:rPr>
              <a:t>2. Frame Normalization: </a:t>
            </a:r>
            <a:r>
              <a:rPr sz="900">
                <a:solidFill>
                  <a:srgbClr val="F5F8FA"/>
                </a:solidFill>
              </a:rPr>
              <a:t>OpenCV Ingestion &amp; Downsampling to 960x540 Buffer</a:t>
            </a:r>
          </a:p>
        </p:txBody>
      </p:sp>
      <p:sp>
        <p:nvSpPr>
          <p:cNvPr id="10" name="Rounded Rectangle 9"/>
          <p:cNvSpPr/>
          <p:nvPr/>
        </p:nvSpPr>
        <p:spPr>
          <a:xfrm>
            <a:off x="731520" y="2916936"/>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53512"/>
            <a:ext cx="5120640" cy="402336"/>
          </a:xfrm>
          <a:prstGeom prst="rect">
            <a:avLst/>
          </a:prstGeom>
          <a:noFill/>
        </p:spPr>
        <p:txBody>
          <a:bodyPr wrap="square">
            <a:spAutoFit/>
          </a:bodyPr>
          <a:lstStyle/>
          <a:p>
            <a:r>
              <a:rPr b="1" sz="950">
                <a:solidFill>
                  <a:srgbClr val="00E5FF"/>
                </a:solidFill>
              </a:rPr>
              <a:t>3. Pose Estimation: </a:t>
            </a:r>
            <a:r>
              <a:rPr sz="900">
                <a:solidFill>
                  <a:srgbClr val="F5F8FA"/>
                </a:solidFill>
              </a:rPr>
              <a:t>MediaPipe Pose Estimator (Active Provider: MediaPipe CPU; QNN Planned)</a:t>
            </a:r>
          </a:p>
        </p:txBody>
      </p:sp>
      <p:sp>
        <p:nvSpPr>
          <p:cNvPr id="12" name="Rounded Rectangle 11"/>
          <p:cNvSpPr/>
          <p:nvPr/>
        </p:nvSpPr>
        <p:spPr>
          <a:xfrm>
            <a:off x="731520" y="3483864"/>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520440"/>
            <a:ext cx="5120640" cy="402336"/>
          </a:xfrm>
          <a:prstGeom prst="rect">
            <a:avLst/>
          </a:prstGeom>
          <a:noFill/>
        </p:spPr>
        <p:txBody>
          <a:bodyPr wrap="square">
            <a:spAutoFit/>
          </a:bodyPr>
          <a:lstStyle/>
          <a:p>
            <a:r>
              <a:rPr b="1" sz="950">
                <a:solidFill>
                  <a:srgbClr val="00E5FF"/>
                </a:solidFill>
              </a:rPr>
              <a:t>4. Landmark Extraction: </a:t>
            </a:r>
            <a:r>
              <a:rPr sz="900">
                <a:solidFill>
                  <a:srgbClr val="F5F8FA"/>
                </a:solidFill>
              </a:rPr>
              <a:t>9 Normalized Keypoints with Visibility Confidence Gating (&gt;0.40)</a:t>
            </a:r>
          </a:p>
        </p:txBody>
      </p:sp>
      <p:sp>
        <p:nvSpPr>
          <p:cNvPr id="14" name="Rounded Rectangle 13"/>
          <p:cNvSpPr/>
          <p:nvPr/>
        </p:nvSpPr>
        <p:spPr>
          <a:xfrm>
            <a:off x="731520" y="4050792"/>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087368"/>
            <a:ext cx="5120640" cy="402336"/>
          </a:xfrm>
          <a:prstGeom prst="rect">
            <a:avLst/>
          </a:prstGeom>
          <a:noFill/>
        </p:spPr>
        <p:txBody>
          <a:bodyPr wrap="square">
            <a:spAutoFit/>
          </a:bodyPr>
          <a:lstStyle/>
          <a:p>
            <a:r>
              <a:rPr b="1" sz="950">
                <a:solidFill>
                  <a:srgbClr val="00E5FF"/>
                </a:solidFill>
              </a:rPr>
              <a:t>5. Temporal Sliding Window: </a:t>
            </a:r>
            <a:r>
              <a:rPr sz="900">
                <a:solidFill>
                  <a:srgbClr val="F5F8FA"/>
                </a:solidFill>
              </a:rPr>
              <a:t>12-Frame Deque Tracking Velocity &amp; Scale Growth</a:t>
            </a:r>
          </a:p>
        </p:txBody>
      </p:sp>
      <p:sp>
        <p:nvSpPr>
          <p:cNvPr id="16" name="Rounded Rectangle 15"/>
          <p:cNvSpPr/>
          <p:nvPr/>
        </p:nvSpPr>
        <p:spPr>
          <a:xfrm>
            <a:off x="731520" y="4617720"/>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654296"/>
            <a:ext cx="5120640" cy="402336"/>
          </a:xfrm>
          <a:prstGeom prst="rect">
            <a:avLst/>
          </a:prstGeom>
          <a:noFill/>
        </p:spPr>
        <p:txBody>
          <a:bodyPr wrap="square">
            <a:spAutoFit/>
          </a:bodyPr>
          <a:lstStyle/>
          <a:p>
            <a:r>
              <a:rPr b="1" sz="950">
                <a:solidFill>
                  <a:srgbClr val="00E5FF"/>
                </a:solidFill>
              </a:rPr>
              <a:t>6. Kinematic Pattern Engine: </a:t>
            </a:r>
            <a:r>
              <a:rPr sz="900">
                <a:solidFill>
                  <a:srgbClr val="F5F8FA"/>
                </a:solidFill>
              </a:rPr>
              <a:t>Rule Evaluator: Fall &gt; Punch &gt; Kick &gt; Approach &gt; Guard &gt; Neutral</a:t>
            </a:r>
          </a:p>
        </p:txBody>
      </p:sp>
      <p:sp>
        <p:nvSpPr>
          <p:cNvPr id="18" name="Rounded Rectangle 17"/>
          <p:cNvSpPr/>
          <p:nvPr/>
        </p:nvSpPr>
        <p:spPr>
          <a:xfrm>
            <a:off x="731520" y="5184648"/>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221224"/>
            <a:ext cx="5120640" cy="402336"/>
          </a:xfrm>
          <a:prstGeom prst="rect">
            <a:avLst/>
          </a:prstGeom>
          <a:noFill/>
        </p:spPr>
        <p:txBody>
          <a:bodyPr wrap="square">
            <a:spAutoFit/>
          </a:bodyPr>
          <a:lstStyle/>
          <a:p>
            <a:r>
              <a:rPr b="1" sz="950">
                <a:solidFill>
                  <a:srgbClr val="00E5FF"/>
                </a:solidFill>
              </a:rPr>
              <a:t>7. Threat Fusion &amp; Telemetry: </a:t>
            </a:r>
            <a:r>
              <a:rPr sz="900">
                <a:solidFill>
                  <a:srgbClr val="F5F8FA"/>
                </a:solidFill>
              </a:rPr>
              <a:t>Graduated Threat Scoring (0.0 - 1.0) &amp; Rationale Generation</a:t>
            </a:r>
          </a:p>
        </p:txBody>
      </p:sp>
      <p:sp>
        <p:nvSpPr>
          <p:cNvPr id="20" name="Rounded Rectangle 19"/>
          <p:cNvSpPr/>
          <p:nvPr/>
        </p:nvSpPr>
        <p:spPr>
          <a:xfrm>
            <a:off x="731520" y="5751576"/>
            <a:ext cx="5303520" cy="475488"/>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788152"/>
            <a:ext cx="5120640" cy="402336"/>
          </a:xfrm>
          <a:prstGeom prst="rect">
            <a:avLst/>
          </a:prstGeom>
          <a:noFill/>
        </p:spPr>
        <p:txBody>
          <a:bodyPr wrap="square">
            <a:spAutoFit/>
          </a:bodyPr>
          <a:lstStyle/>
          <a:p>
            <a:r>
              <a:rPr b="1" sz="950">
                <a:solidFill>
                  <a:srgbClr val="00E5FF"/>
                </a:solidFill>
              </a:rPr>
              <a:t>8. Output &amp; Storage: </a:t>
            </a:r>
            <a:r>
              <a:rPr sz="900">
                <a:solidFill>
                  <a:srgbClr val="F5F8FA"/>
                </a:solidFill>
              </a:rPr>
              <a:t>AEGIS CORE Dynamic HUD Display &amp; Local JSONL Incident Log</a:t>
            </a:r>
          </a:p>
        </p:txBody>
      </p:sp>
      <p:sp>
        <p:nvSpPr>
          <p:cNvPr id="22" name="Rounded Rectangle 21"/>
          <p:cNvSpPr/>
          <p:nvPr/>
        </p:nvSpPr>
        <p:spPr>
          <a:xfrm>
            <a:off x="6309360" y="1783080"/>
            <a:ext cx="5150815" cy="44805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920240"/>
            <a:ext cx="4785055" cy="365760"/>
          </a:xfrm>
          <a:prstGeom prst="rect">
            <a:avLst/>
          </a:prstGeom>
          <a:noFill/>
        </p:spPr>
        <p:txBody>
          <a:bodyPr wrap="square">
            <a:spAutoFit/>
          </a:bodyPr>
          <a:lstStyle/>
          <a:p>
            <a:pPr>
              <a:defRPr sz="1300" b="1">
                <a:solidFill>
                  <a:srgbClr val="00E5FF"/>
                </a:solidFill>
                <a:latin typeface="Segoe UI"/>
              </a:defRPr>
            </a:pPr>
            <a:r>
              <a:t>AEGIS CORE TELEMETRY INTERFACE</a:t>
            </a:r>
          </a:p>
        </p:txBody>
      </p:sp>
      <p:pic>
        <p:nvPicPr>
          <p:cNvPr id="24" name="Picture 23" descr="aegis-core-dashboard.png"/>
          <p:cNvPicPr>
            <a:picLocks noChangeAspect="1"/>
          </p:cNvPicPr>
          <p:nvPr/>
        </p:nvPicPr>
        <p:blipFill>
          <a:blip r:embed="rId2"/>
          <a:stretch>
            <a:fillRect/>
          </a:stretch>
        </p:blipFill>
        <p:spPr>
          <a:xfrm>
            <a:off x="6492240" y="2331720"/>
            <a:ext cx="4785055" cy="2688336"/>
          </a:xfrm>
          <a:prstGeom prst="rect">
            <a:avLst/>
          </a:prstGeom>
        </p:spPr>
      </p:pic>
      <p:sp>
        <p:nvSpPr>
          <p:cNvPr id="25" name="TextBox 24"/>
          <p:cNvSpPr txBox="1"/>
          <p:nvPr/>
        </p:nvSpPr>
        <p:spPr>
          <a:xfrm>
            <a:off x="6492240" y="5120640"/>
            <a:ext cx="4785055" cy="1005840"/>
          </a:xfrm>
          <a:prstGeom prst="rect">
            <a:avLst/>
          </a:prstGeom>
          <a:noFill/>
        </p:spPr>
        <p:txBody>
          <a:bodyPr wrap="square">
            <a:spAutoFit/>
          </a:bodyPr>
          <a:lstStyle/>
          <a:p>
            <a:pPr>
              <a:defRPr b="1" sz="1050">
                <a:solidFill>
                  <a:srgbClr val="00E5FF"/>
                </a:solidFill>
              </a:defRPr>
            </a:pPr>
            <a:r>
              <a:t>Current Verified Engine: MediaPipe CPU (Active)</a:t>
            </a:r>
          </a:p>
          <a:p>
            <a:pPr>
              <a:defRPr sz="900">
                <a:solidFill>
                  <a:srgbClr val="A5B4BC"/>
                </a:solidFill>
              </a:defRPr>
            </a:pPr>
            <a:r>
              <a:t>Heads-up display running at 960x540. QNN Hexagon NPU execution is planned via ONNX/QNN pose adapter.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00E5FF"/>
                </a:solidFill>
                <a:latin typeface="Segoe UI"/>
              </a:defRPr>
            </a:pPr>
            <a:r>
              <a:t>/// RESPONSIBLE AI ARCHITECTURE</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5F8FA"/>
                </a:solidFill>
                <a:latin typeface="Segoe UI"/>
              </a:defRPr>
            </a:pPr>
            <a:r>
              <a:t>Innovation, Privacy, and Responsible Safety Safeguards</a:t>
            </a:r>
          </a:p>
        </p:txBody>
      </p:sp>
      <p:sp>
        <p:nvSpPr>
          <p:cNvPr id="5" name="Rectangle 4"/>
          <p:cNvSpPr/>
          <p:nvPr/>
        </p:nvSpPr>
        <p:spPr>
          <a:xfrm>
            <a:off x="731520" y="1508760"/>
            <a:ext cx="10728655" cy="18288"/>
          </a:xfrm>
          <a:prstGeom prst="rect">
            <a:avLst/>
          </a:prstGeom>
          <a:solidFill>
            <a:srgbClr val="1C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3063240" cy="365760"/>
          </a:xfrm>
          <a:prstGeom prst="rect">
            <a:avLst/>
          </a:prstGeom>
          <a:noFill/>
        </p:spPr>
        <p:txBody>
          <a:bodyPr wrap="square">
            <a:spAutoFit/>
          </a:bodyPr>
          <a:lstStyle/>
          <a:p>
            <a:pPr>
              <a:defRPr sz="1300" b="1">
                <a:solidFill>
                  <a:srgbClr val="00E5FF"/>
                </a:solidFill>
                <a:latin typeface="Segoe UI"/>
              </a:defRPr>
            </a:pPr>
            <a:r>
              <a:t>ZERO FACIAL RECOGNITION</a:t>
            </a:r>
          </a:p>
        </p:txBody>
      </p:sp>
      <p:sp>
        <p:nvSpPr>
          <p:cNvPr id="8" name="TextBox 7"/>
          <p:cNvSpPr txBox="1"/>
          <p:nvPr/>
        </p:nvSpPr>
        <p:spPr>
          <a:xfrm>
            <a:off x="914400" y="2423160"/>
            <a:ext cx="3063240" cy="1280160"/>
          </a:xfrm>
          <a:prstGeom prst="rect">
            <a:avLst/>
          </a:prstGeom>
          <a:noFill/>
        </p:spPr>
        <p:txBody>
          <a:bodyPr wrap="square">
            <a:spAutoFit/>
          </a:bodyPr>
          <a:lstStyle/>
          <a:p>
            <a:pPr>
              <a:spcAft>
                <a:spcPts val="400"/>
              </a:spcAft>
              <a:defRPr sz="1200" b="1">
                <a:solidFill>
                  <a:srgbClr val="F5F8FA"/>
                </a:solidFill>
                <a:latin typeface="Segoe UI"/>
              </a:defRPr>
            </a:pPr>
            <a:r>
              <a:t>Biometric Privacy by Design</a:t>
            </a:r>
          </a:p>
          <a:p>
            <a:pPr>
              <a:defRPr sz="950">
                <a:solidFill>
                  <a:srgbClr val="A5B4BC"/>
                </a:solidFill>
                <a:latin typeface="Segoe UI"/>
              </a:defRPr>
            </a:pPr>
            <a:r>
              <a:t>Aegis does not perform face recognition, face identification, facial embeddings or biometric identity tracking. One coarse nose keypoint is used only for pose geometry.</a:t>
            </a:r>
          </a:p>
        </p:txBody>
      </p:sp>
      <p:sp>
        <p:nvSpPr>
          <p:cNvPr id="9" name="Rounded Rectangle 8"/>
          <p:cNvSpPr/>
          <p:nvPr/>
        </p:nvSpPr>
        <p:spPr>
          <a:xfrm>
            <a:off x="4343400" y="192024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057400"/>
            <a:ext cx="3063240" cy="365760"/>
          </a:xfrm>
          <a:prstGeom prst="rect">
            <a:avLst/>
          </a:prstGeom>
          <a:noFill/>
        </p:spPr>
        <p:txBody>
          <a:bodyPr wrap="square">
            <a:spAutoFit/>
          </a:bodyPr>
          <a:lstStyle/>
          <a:p>
            <a:pPr>
              <a:defRPr sz="1300" b="1">
                <a:solidFill>
                  <a:srgbClr val="00E5FF"/>
                </a:solidFill>
                <a:latin typeface="Segoe UI"/>
              </a:defRPr>
            </a:pPr>
            <a:r>
              <a:t>VOLATILE FRAME MEMORY</a:t>
            </a:r>
          </a:p>
        </p:txBody>
      </p:sp>
      <p:sp>
        <p:nvSpPr>
          <p:cNvPr id="11" name="TextBox 10"/>
          <p:cNvSpPr txBox="1"/>
          <p:nvPr/>
        </p:nvSpPr>
        <p:spPr>
          <a:xfrm>
            <a:off x="4526280" y="2423160"/>
            <a:ext cx="3063240" cy="1280160"/>
          </a:xfrm>
          <a:prstGeom prst="rect">
            <a:avLst/>
          </a:prstGeom>
          <a:noFill/>
        </p:spPr>
        <p:txBody>
          <a:bodyPr wrap="square">
            <a:spAutoFit/>
          </a:bodyPr>
          <a:lstStyle/>
          <a:p>
            <a:pPr>
              <a:spcAft>
                <a:spcPts val="400"/>
              </a:spcAft>
              <a:defRPr sz="1200" b="1">
                <a:solidFill>
                  <a:srgbClr val="F5F8FA"/>
                </a:solidFill>
                <a:latin typeface="Segoe UI"/>
              </a:defRPr>
            </a:pPr>
            <a:r>
              <a:t>No Cloud Video Uploads</a:t>
            </a:r>
          </a:p>
          <a:p>
            <a:pPr>
              <a:defRPr sz="950">
                <a:solidFill>
                  <a:srgbClr val="A5B4BC"/>
                </a:solidFill>
                <a:latin typeface="Segoe UI"/>
              </a:defRPr>
            </a:pPr>
            <a:r>
              <a:t>All frame computations execute in volatile RAM on the local workstation. Video streams are analyzed frame-by-frame and immediately overwritten.</a:t>
            </a:r>
          </a:p>
        </p:txBody>
      </p:sp>
      <p:sp>
        <p:nvSpPr>
          <p:cNvPr id="12" name="Rounded Rectangle 11"/>
          <p:cNvSpPr/>
          <p:nvPr/>
        </p:nvSpPr>
        <p:spPr>
          <a:xfrm>
            <a:off x="7955280" y="192024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057400"/>
            <a:ext cx="3063240" cy="365760"/>
          </a:xfrm>
          <a:prstGeom prst="rect">
            <a:avLst/>
          </a:prstGeom>
          <a:noFill/>
        </p:spPr>
        <p:txBody>
          <a:bodyPr wrap="square">
            <a:spAutoFit/>
          </a:bodyPr>
          <a:lstStyle/>
          <a:p>
            <a:pPr>
              <a:defRPr sz="1300" b="1">
                <a:solidFill>
                  <a:srgbClr val="00E5FF"/>
                </a:solidFill>
                <a:latin typeface="Segoe UI"/>
              </a:defRPr>
            </a:pPr>
            <a:r>
              <a:t>OPT-IN LOCAL LOGGING</a:t>
            </a:r>
          </a:p>
        </p:txBody>
      </p:sp>
      <p:sp>
        <p:nvSpPr>
          <p:cNvPr id="14" name="TextBox 13"/>
          <p:cNvSpPr txBox="1"/>
          <p:nvPr/>
        </p:nvSpPr>
        <p:spPr>
          <a:xfrm>
            <a:off x="8138160" y="2423160"/>
            <a:ext cx="3063240" cy="1280160"/>
          </a:xfrm>
          <a:prstGeom prst="rect">
            <a:avLst/>
          </a:prstGeom>
          <a:noFill/>
        </p:spPr>
        <p:txBody>
          <a:bodyPr wrap="square">
            <a:spAutoFit/>
          </a:bodyPr>
          <a:lstStyle/>
          <a:p>
            <a:pPr>
              <a:spcAft>
                <a:spcPts val="400"/>
              </a:spcAft>
              <a:defRPr sz="1200" b="1">
                <a:solidFill>
                  <a:srgbClr val="F5F8FA"/>
                </a:solidFill>
                <a:latin typeface="Segoe UI"/>
              </a:defRPr>
            </a:pPr>
            <a:r>
              <a:t>Operator-Controlled Storage</a:t>
            </a:r>
          </a:p>
          <a:p>
            <a:pPr>
              <a:defRPr sz="950">
                <a:solidFill>
                  <a:srgbClr val="A5B4BC"/>
                </a:solidFill>
                <a:latin typeface="Segoe UI"/>
              </a:defRPr>
            </a:pPr>
            <a:r>
              <a:t>Incident logging is strictly opt-in via manual toggle (R or Space). Log records reside exclusively on the host PC in artifacts/incidents.jsonl.</a:t>
            </a:r>
          </a:p>
        </p:txBody>
      </p:sp>
      <p:sp>
        <p:nvSpPr>
          <p:cNvPr id="15" name="Rounded Rectangle 14"/>
          <p:cNvSpPr/>
          <p:nvPr/>
        </p:nvSpPr>
        <p:spPr>
          <a:xfrm>
            <a:off x="731520" y="406908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06240"/>
            <a:ext cx="3063240" cy="365760"/>
          </a:xfrm>
          <a:prstGeom prst="rect">
            <a:avLst/>
          </a:prstGeom>
          <a:noFill/>
        </p:spPr>
        <p:txBody>
          <a:bodyPr wrap="square">
            <a:spAutoFit/>
          </a:bodyPr>
          <a:lstStyle/>
          <a:p>
            <a:pPr>
              <a:defRPr sz="1300" b="1">
                <a:solidFill>
                  <a:srgbClr val="00E5FF"/>
                </a:solidFill>
                <a:latin typeface="Segoe UI"/>
              </a:defRPr>
            </a:pPr>
            <a:r>
              <a:t>INTENT VS. MOTION</a:t>
            </a:r>
          </a:p>
        </p:txBody>
      </p:sp>
      <p:sp>
        <p:nvSpPr>
          <p:cNvPr id="17" name="TextBox 16"/>
          <p:cNvSpPr txBox="1"/>
          <p:nvPr/>
        </p:nvSpPr>
        <p:spPr>
          <a:xfrm>
            <a:off x="914400" y="4572000"/>
            <a:ext cx="3063240" cy="1280160"/>
          </a:xfrm>
          <a:prstGeom prst="rect">
            <a:avLst/>
          </a:prstGeom>
          <a:noFill/>
        </p:spPr>
        <p:txBody>
          <a:bodyPr wrap="square">
            <a:spAutoFit/>
          </a:bodyPr>
          <a:lstStyle/>
          <a:p>
            <a:pPr>
              <a:spcAft>
                <a:spcPts val="400"/>
              </a:spcAft>
              <a:defRPr sz="1200" b="1">
                <a:solidFill>
                  <a:srgbClr val="F5F8FA"/>
                </a:solidFill>
                <a:latin typeface="Segoe UI"/>
              </a:defRPr>
            </a:pPr>
            <a:r>
              <a:t>Kinematic Signals, Not Guilt</a:t>
            </a:r>
          </a:p>
          <a:p>
            <a:pPr>
              <a:defRPr sz="950">
                <a:solidFill>
                  <a:srgbClr val="A5B4BC"/>
                </a:solidFill>
                <a:latin typeface="Segoe UI"/>
              </a:defRPr>
            </a:pPr>
            <a:r>
              <a:t>Aegis measures biomechanical movement patterns; it does not and cannot infer criminal intent, malice, or moral culpability. Human context is mandatory.</a:t>
            </a:r>
          </a:p>
        </p:txBody>
      </p:sp>
      <p:sp>
        <p:nvSpPr>
          <p:cNvPr id="18" name="Rounded Rectangle 17"/>
          <p:cNvSpPr/>
          <p:nvPr/>
        </p:nvSpPr>
        <p:spPr>
          <a:xfrm>
            <a:off x="4343400" y="406908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4206240"/>
            <a:ext cx="3063240" cy="365760"/>
          </a:xfrm>
          <a:prstGeom prst="rect">
            <a:avLst/>
          </a:prstGeom>
          <a:noFill/>
        </p:spPr>
        <p:txBody>
          <a:bodyPr wrap="square">
            <a:spAutoFit/>
          </a:bodyPr>
          <a:lstStyle/>
          <a:p>
            <a:pPr>
              <a:defRPr sz="1300" b="1">
                <a:solidFill>
                  <a:srgbClr val="00E5FF"/>
                </a:solidFill>
                <a:latin typeface="Segoe UI"/>
              </a:defRPr>
            </a:pPr>
            <a:r>
              <a:t>DECISION-SUPPORT ONLY</a:t>
            </a:r>
          </a:p>
        </p:txBody>
      </p:sp>
      <p:sp>
        <p:nvSpPr>
          <p:cNvPr id="20" name="TextBox 19"/>
          <p:cNvSpPr txBox="1"/>
          <p:nvPr/>
        </p:nvSpPr>
        <p:spPr>
          <a:xfrm>
            <a:off x="4526280" y="4572000"/>
            <a:ext cx="3063240" cy="1280160"/>
          </a:xfrm>
          <a:prstGeom prst="rect">
            <a:avLst/>
          </a:prstGeom>
          <a:noFill/>
        </p:spPr>
        <p:txBody>
          <a:bodyPr wrap="square">
            <a:spAutoFit/>
          </a:bodyPr>
          <a:lstStyle/>
          <a:p>
            <a:pPr>
              <a:spcAft>
                <a:spcPts val="400"/>
              </a:spcAft>
              <a:defRPr sz="1200" b="1">
                <a:solidFill>
                  <a:srgbClr val="F5F8FA"/>
                </a:solidFill>
                <a:latin typeface="Segoe UI"/>
              </a:defRPr>
            </a:pPr>
            <a:r>
              <a:t>Prohibition of Autonomous Action</a:t>
            </a:r>
          </a:p>
          <a:p>
            <a:pPr>
              <a:defRPr sz="950">
                <a:solidFill>
                  <a:srgbClr val="A5B4BC"/>
                </a:solidFill>
                <a:latin typeface="Segoe UI"/>
              </a:defRPr>
            </a:pPr>
            <a:r>
              <a:t>Outputs are engineered strictly for human review. Under no circumstances should Aegis trigger automated physical enforcement or disciplinary interlocks.</a:t>
            </a:r>
          </a:p>
        </p:txBody>
      </p:sp>
      <p:sp>
        <p:nvSpPr>
          <p:cNvPr id="21" name="Rounded Rectangle 20"/>
          <p:cNvSpPr/>
          <p:nvPr/>
        </p:nvSpPr>
        <p:spPr>
          <a:xfrm>
            <a:off x="7955280" y="4069080"/>
            <a:ext cx="3429000" cy="196596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4206240"/>
            <a:ext cx="3063240" cy="365760"/>
          </a:xfrm>
          <a:prstGeom prst="rect">
            <a:avLst/>
          </a:prstGeom>
          <a:noFill/>
        </p:spPr>
        <p:txBody>
          <a:bodyPr wrap="square">
            <a:spAutoFit/>
          </a:bodyPr>
          <a:lstStyle/>
          <a:p>
            <a:pPr>
              <a:defRPr sz="1300" b="1">
                <a:solidFill>
                  <a:srgbClr val="00E5FF"/>
                </a:solidFill>
                <a:latin typeface="Segoe UI"/>
              </a:defRPr>
            </a:pPr>
            <a:r>
              <a:t>SYNTHETIC EVALUATION</a:t>
            </a:r>
          </a:p>
        </p:txBody>
      </p:sp>
      <p:sp>
        <p:nvSpPr>
          <p:cNvPr id="23" name="TextBox 22"/>
          <p:cNvSpPr txBox="1"/>
          <p:nvPr/>
        </p:nvSpPr>
        <p:spPr>
          <a:xfrm>
            <a:off x="8138160" y="4572000"/>
            <a:ext cx="3063240" cy="1280160"/>
          </a:xfrm>
          <a:prstGeom prst="rect">
            <a:avLst/>
          </a:prstGeom>
          <a:noFill/>
        </p:spPr>
        <p:txBody>
          <a:bodyPr wrap="square">
            <a:spAutoFit/>
          </a:bodyPr>
          <a:lstStyle/>
          <a:p>
            <a:pPr>
              <a:spcAft>
                <a:spcPts val="400"/>
              </a:spcAft>
              <a:defRPr sz="1200" b="1">
                <a:solidFill>
                  <a:srgbClr val="F5F8FA"/>
                </a:solidFill>
                <a:latin typeface="Segoe UI"/>
              </a:defRPr>
            </a:pPr>
            <a:r>
              <a:t>Camera-Free Demonstration</a:t>
            </a:r>
          </a:p>
          <a:p>
            <a:pPr>
              <a:defRPr sz="950">
                <a:solidFill>
                  <a:srgbClr val="A5B4BC"/>
                </a:solidFill>
                <a:latin typeface="Segoe UI"/>
              </a:defRPr>
            </a:pPr>
            <a:r>
              <a:t>A deterministic synthetic demonstration mode (--demo and --export-preview) enables comprehensive validation without exposing real users or spaces.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00E5FF"/>
                </a:solidFill>
                <a:latin typeface="Segoe UI"/>
              </a:defRPr>
            </a:pPr>
            <a:r>
              <a:t>/// HARDWARE ACCELERATION STRATEGY</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5F8FA"/>
                </a:solidFill>
                <a:latin typeface="Segoe UI"/>
              </a:defRPr>
            </a:pPr>
            <a:r>
              <a:t>Qualcomm Snapdragon Optimization &amp; NPU Deployment Path (Planned)</a:t>
            </a:r>
          </a:p>
        </p:txBody>
      </p:sp>
      <p:sp>
        <p:nvSpPr>
          <p:cNvPr id="5" name="Rectangle 4"/>
          <p:cNvSpPr/>
          <p:nvPr/>
        </p:nvSpPr>
        <p:spPr>
          <a:xfrm>
            <a:off x="731520" y="1508760"/>
            <a:ext cx="10728655" cy="18288"/>
          </a:xfrm>
          <a:prstGeom prst="rect">
            <a:avLst/>
          </a:prstGeom>
          <a:solidFill>
            <a:srgbClr val="1C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74519"/>
            <a:ext cx="10728655" cy="777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1"/>
            <a:ext cx="10332720" cy="640080"/>
          </a:xfrm>
          <a:prstGeom prst="rect">
            <a:avLst/>
          </a:prstGeom>
          <a:noFill/>
        </p:spPr>
        <p:txBody>
          <a:bodyPr wrap="square">
            <a:spAutoFit/>
          </a:bodyPr>
          <a:lstStyle/>
          <a:p>
            <a:r>
              <a:rPr b="1" sz="1000">
                <a:solidFill>
                  <a:srgbClr val="00E5FF"/>
                </a:solidFill>
              </a:rPr>
              <a:t>[STAGE 1: FUNCTIONAL BASELINE]  </a:t>
            </a:r>
            <a:r>
              <a:rPr b="1" sz="1100">
                <a:solidFill>
                  <a:srgbClr val="F5F8FA"/>
                </a:solidFill>
              </a:rPr>
              <a:t>Current MediaPipe CPU Pipeline</a:t>
            </a:r>
          </a:p>
          <a:p>
            <a:pPr>
              <a:defRPr sz="950">
                <a:solidFill>
                  <a:srgbClr val="A5B4BC"/>
                </a:solidFill>
              </a:defRPr>
            </a:pPr>
            <a:r>
              <a:t>The validated MVP runs MediaPipe CPU to establish ground-truth algorithmic correctness, temporal stability, and deterministic test suites.</a:t>
            </a:r>
          </a:p>
        </p:txBody>
      </p:sp>
      <p:sp>
        <p:nvSpPr>
          <p:cNvPr id="8" name="Rounded Rectangle 7"/>
          <p:cNvSpPr/>
          <p:nvPr/>
        </p:nvSpPr>
        <p:spPr>
          <a:xfrm>
            <a:off x="731520" y="2798063"/>
            <a:ext cx="10728655" cy="777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71215"/>
            <a:ext cx="10332720" cy="640080"/>
          </a:xfrm>
          <a:prstGeom prst="rect">
            <a:avLst/>
          </a:prstGeom>
          <a:noFill/>
        </p:spPr>
        <p:txBody>
          <a:bodyPr wrap="square">
            <a:spAutoFit/>
          </a:bodyPr>
          <a:lstStyle/>
          <a:p>
            <a:r>
              <a:rPr b="1" sz="1000">
                <a:solidFill>
                  <a:srgbClr val="00E5FF"/>
                </a:solidFill>
              </a:rPr>
              <a:t>[STAGE 2: MODEL SELECTION]  </a:t>
            </a:r>
            <a:r>
              <a:rPr b="1" sz="1100">
                <a:solidFill>
                  <a:srgbClr val="F5F8FA"/>
                </a:solidFill>
              </a:rPr>
              <a:t>Qualcomm AI Hub Model Catalog</a:t>
            </a:r>
          </a:p>
          <a:p>
            <a:pPr>
              <a:defRPr sz="950">
                <a:solidFill>
                  <a:srgbClr val="A5B4BC"/>
                </a:solidFill>
              </a:defRPr>
            </a:pPr>
            <a:r>
              <a:t>Select an edge-optimized pose model (e.g., YOLOv8n-pose or RTMPose) from Qualcomm AI Hub with proven low-latency edge topology.</a:t>
            </a:r>
          </a:p>
        </p:txBody>
      </p:sp>
      <p:sp>
        <p:nvSpPr>
          <p:cNvPr id="10" name="Rounded Rectangle 9"/>
          <p:cNvSpPr/>
          <p:nvPr/>
        </p:nvSpPr>
        <p:spPr>
          <a:xfrm>
            <a:off x="731520" y="3721607"/>
            <a:ext cx="10728655" cy="777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94759"/>
            <a:ext cx="10332720" cy="640080"/>
          </a:xfrm>
          <a:prstGeom prst="rect">
            <a:avLst/>
          </a:prstGeom>
          <a:noFill/>
        </p:spPr>
        <p:txBody>
          <a:bodyPr wrap="square">
            <a:spAutoFit/>
          </a:bodyPr>
          <a:lstStyle/>
          <a:p>
            <a:r>
              <a:rPr b="1" sz="1000">
                <a:solidFill>
                  <a:srgbClr val="00E5FF"/>
                </a:solidFill>
              </a:rPr>
              <a:t>[STAGE 3: COMPILATION &amp; QUANTIZATION]  </a:t>
            </a:r>
            <a:r>
              <a:rPr b="1" sz="1100">
                <a:solidFill>
                  <a:srgbClr val="F5F8FA"/>
                </a:solidFill>
              </a:rPr>
              <a:t>INT8 / FP16 Hexagon Compilation</a:t>
            </a:r>
          </a:p>
          <a:p>
            <a:pPr>
              <a:defRPr sz="950">
                <a:solidFill>
                  <a:srgbClr val="A5B4BC"/>
                </a:solidFill>
              </a:defRPr>
            </a:pPr>
            <a:r>
              <a:t>Utilize Qualcomm AI Hub cloud toolchains to compile and quantize the model for the Hexagon NPU on Snapdragon X Elite/Plus platforms.</a:t>
            </a:r>
          </a:p>
        </p:txBody>
      </p:sp>
      <p:sp>
        <p:nvSpPr>
          <p:cNvPr id="12" name="Rounded Rectangle 11"/>
          <p:cNvSpPr/>
          <p:nvPr/>
        </p:nvSpPr>
        <p:spPr>
          <a:xfrm>
            <a:off x="731520" y="4645151"/>
            <a:ext cx="10728655" cy="777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18303"/>
            <a:ext cx="10332720" cy="640080"/>
          </a:xfrm>
          <a:prstGeom prst="rect">
            <a:avLst/>
          </a:prstGeom>
          <a:noFill/>
        </p:spPr>
        <p:txBody>
          <a:bodyPr wrap="square">
            <a:spAutoFit/>
          </a:bodyPr>
          <a:lstStyle/>
          <a:p>
            <a:r>
              <a:rPr b="1" sz="1000">
                <a:solidFill>
                  <a:srgbClr val="00E5FF"/>
                </a:solidFill>
              </a:rPr>
              <a:t>[STAGE 4: RUNTIME ADAPTATION (PLANNED)]  </a:t>
            </a:r>
            <a:r>
              <a:rPr b="1" sz="1100">
                <a:solidFill>
                  <a:srgbClr val="F5F8FA"/>
                </a:solidFill>
              </a:rPr>
              <a:t>ONNX/QNN Pose-Estimator Adapter</a:t>
            </a:r>
          </a:p>
          <a:p>
            <a:pPr>
              <a:defRPr sz="950">
                <a:solidFill>
                  <a:srgbClr val="A5B4BC"/>
                </a:solidFill>
              </a:defRPr>
            </a:pPr>
            <a:r>
              <a:t>Implement adapter that preprocesses frames, calls session.run(), converts outputs to normalized PoseFrame landmarks, and replaces MediaPipePoseEstimator via QNN.</a:t>
            </a:r>
          </a:p>
        </p:txBody>
      </p:sp>
      <p:sp>
        <p:nvSpPr>
          <p:cNvPr id="14" name="Rounded Rectangle 13"/>
          <p:cNvSpPr/>
          <p:nvPr/>
        </p:nvSpPr>
        <p:spPr>
          <a:xfrm>
            <a:off x="731520" y="5568695"/>
            <a:ext cx="10728655" cy="77724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41847"/>
            <a:ext cx="10332720" cy="640080"/>
          </a:xfrm>
          <a:prstGeom prst="rect">
            <a:avLst/>
          </a:prstGeom>
          <a:noFill/>
        </p:spPr>
        <p:txBody>
          <a:bodyPr wrap="square">
            <a:spAutoFit/>
          </a:bodyPr>
          <a:lstStyle/>
          <a:p>
            <a:r>
              <a:rPr b="1" sz="1000">
                <a:solidFill>
                  <a:srgbClr val="00E5FF"/>
                </a:solidFill>
              </a:rPr>
              <a:t>[STAGE 5: RIGOROUS BENCHMARKING (PLANNED)]  </a:t>
            </a:r>
            <a:r>
              <a:rPr b="1" sz="1100">
                <a:solidFill>
                  <a:srgbClr val="F5F8FA"/>
                </a:solidFill>
              </a:rPr>
              <a:t>Identical-Video CPU vs QNN Benchmark</a:t>
            </a:r>
          </a:p>
          <a:p>
            <a:pPr>
              <a:defRPr sz="950">
                <a:solidFill>
                  <a:srgbClr val="A5B4BC"/>
                </a:solidFill>
              </a:defRPr>
            </a:pPr>
            <a:r>
              <a:t>Execute scripts/benchmark.py on an identical 1080p clip to measure real throughput (FPS), p95 latency reduction, and CPU offload.</a:t>
            </a:r>
          </a:p>
        </p:txBody>
      </p:sp>
      <p:sp>
        <p:nvSpPr>
          <p:cNvPr id="16" name="TextBox 15"/>
          <p:cNvSpPr txBox="1"/>
          <p:nvPr/>
        </p:nvSpPr>
        <p:spPr>
          <a:xfrm>
            <a:off x="731520" y="6035040"/>
            <a:ext cx="10728655" cy="457200"/>
          </a:xfrm>
          <a:prstGeom prst="rect">
            <a:avLst/>
          </a:prstGeom>
          <a:noFill/>
        </p:spPr>
        <p:txBody>
          <a:bodyPr wrap="none">
            <a:spAutoFit/>
          </a:bodyPr>
          <a:lstStyle/>
          <a:p>
            <a:pPr>
              <a:defRPr sz="850" i="1">
                <a:solidFill>
                  <a:srgbClr val="008CBA"/>
                </a:solidFill>
              </a:defRPr>
            </a:pPr>
            <a:r>
              <a:t>* Architectural Transparency Note: Supplying AEGIS_MODEL_PATH does not connect model outputs to pose estimation. Runtime diagnostics only verify provider availability. MediaPipe CPU is the only currently verified active pose provider; QNN is planned.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00E5FF"/>
                </a:solidFill>
                <a:latin typeface="Segoe UI"/>
              </a:defRPr>
            </a:pPr>
            <a:r>
              <a:t>/// VERIFICATION &amp; FUTURE VISION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5F8FA"/>
                </a:solidFill>
                <a:latin typeface="Segoe UI"/>
              </a:defRPr>
            </a:pPr>
            <a:r>
              <a:t>Evidence, Real-World Impact, and Project Roadmap</a:t>
            </a:r>
          </a:p>
        </p:txBody>
      </p:sp>
      <p:sp>
        <p:nvSpPr>
          <p:cNvPr id="5" name="Rectangle 4"/>
          <p:cNvSpPr/>
          <p:nvPr/>
        </p:nvSpPr>
        <p:spPr>
          <a:xfrm>
            <a:off x="731520" y="1508760"/>
            <a:ext cx="10728655" cy="18288"/>
          </a:xfrm>
          <a:prstGeom prst="rect">
            <a:avLst/>
          </a:prstGeom>
          <a:solidFill>
            <a:srgbClr val="1C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383280" cy="429768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3017520" cy="365760"/>
          </a:xfrm>
          <a:prstGeom prst="rect">
            <a:avLst/>
          </a:prstGeom>
          <a:noFill/>
        </p:spPr>
        <p:txBody>
          <a:bodyPr wrap="square">
            <a:spAutoFit/>
          </a:bodyPr>
          <a:lstStyle/>
          <a:p>
            <a:pPr>
              <a:defRPr sz="1300" b="1">
                <a:solidFill>
                  <a:srgbClr val="00E5FF"/>
                </a:solidFill>
                <a:latin typeface="Segoe UI"/>
              </a:defRPr>
            </a:pPr>
            <a:r>
              <a:t>VERIFIED CURRENT EVIDENCE</a:t>
            </a:r>
          </a:p>
        </p:txBody>
      </p:sp>
      <p:sp>
        <p:nvSpPr>
          <p:cNvPr id="8" name="TextBox 7"/>
          <p:cNvSpPr txBox="1"/>
          <p:nvPr/>
        </p:nvSpPr>
        <p:spPr>
          <a:xfrm>
            <a:off x="914400" y="2468880"/>
            <a:ext cx="3017520" cy="3566160"/>
          </a:xfrm>
          <a:prstGeom prst="rect">
            <a:avLst/>
          </a:prstGeom>
          <a:noFill/>
        </p:spPr>
        <p:txBody>
          <a:bodyPr wrap="square">
            <a:spAutoFit/>
          </a:bodyPr>
          <a:lstStyle/>
          <a:p>
            <a:pPr>
              <a:spcAft>
                <a:spcPts val="800"/>
              </a:spcAft>
              <a:defRPr sz="950">
                <a:solidFill>
                  <a:srgbClr val="A5B4BC"/>
                </a:solidFill>
              </a:defRPr>
            </a:pPr>
            <a:r>
              <a:t>• Functional Live Pipeline: Real-time webcam ingestion, landmark tracking, threat scoring, and HUD.</a:t>
            </a:r>
          </a:p>
          <a:p>
            <a:pPr>
              <a:spcAft>
                <a:spcPts val="800"/>
              </a:spcAft>
              <a:defRPr sz="950">
                <a:solidFill>
                  <a:srgbClr val="A5B4BC"/>
                </a:solidFill>
              </a:defRPr>
            </a:pPr>
            <a:r>
              <a:t>• 17 / 17 Tests Passing: Deterministic pytest suite verifying heuristics, safety bounds, and deduplication.</a:t>
            </a:r>
          </a:p>
          <a:p>
            <a:pPr>
              <a:spcAft>
                <a:spcPts val="800"/>
              </a:spcAft>
              <a:defRPr sz="950">
                <a:solidFill>
                  <a:srgbClr val="A5B4BC"/>
                </a:solidFill>
              </a:defRPr>
            </a:pPr>
            <a:r>
              <a:t>• Synthetic Demo Suite: Complete camera-free demonstration and visual preview exporter.</a:t>
            </a:r>
          </a:p>
          <a:p>
            <a:pPr>
              <a:spcAft>
                <a:spcPts val="800"/>
              </a:spcAft>
              <a:defRPr sz="950">
                <a:solidFill>
                  <a:srgbClr val="A5B4BC"/>
                </a:solidFill>
              </a:defRPr>
            </a:pPr>
            <a:r>
              <a:t>• Truthful Telemetry: HUD reports MediaPipe CPU. QNN NPU execution is planned via pose adapter.</a:t>
            </a:r>
          </a:p>
          <a:p>
            <a:pPr>
              <a:spcAft>
                <a:spcPts val="800"/>
              </a:spcAft>
              <a:defRPr sz="950">
                <a:solidFill>
                  <a:srgbClr val="A5B4BC"/>
                </a:solidFill>
              </a:defRPr>
            </a:pPr>
            <a:r>
              <a:t>• Public GitHub Repository: github.com/aniketkapgate7-crypto/Aegis-Fight-Pattern-Analyzer</a:t>
            </a:r>
          </a:p>
        </p:txBody>
      </p:sp>
      <p:sp>
        <p:nvSpPr>
          <p:cNvPr id="9" name="Rounded Rectangle 8"/>
          <p:cNvSpPr/>
          <p:nvPr/>
        </p:nvSpPr>
        <p:spPr>
          <a:xfrm>
            <a:off x="4389120" y="1920240"/>
            <a:ext cx="3383280" cy="429768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057400"/>
            <a:ext cx="3017520" cy="365760"/>
          </a:xfrm>
          <a:prstGeom prst="rect">
            <a:avLst/>
          </a:prstGeom>
          <a:noFill/>
        </p:spPr>
        <p:txBody>
          <a:bodyPr wrap="square">
            <a:spAutoFit/>
          </a:bodyPr>
          <a:lstStyle/>
          <a:p>
            <a:pPr>
              <a:defRPr sz="1300" b="1">
                <a:solidFill>
                  <a:srgbClr val="00E5FF"/>
                </a:solidFill>
                <a:latin typeface="Segoe UI"/>
              </a:defRPr>
            </a:pPr>
            <a:r>
              <a:t>DEVELOPMENT ROADMAP</a:t>
            </a:r>
          </a:p>
        </p:txBody>
      </p:sp>
      <p:sp>
        <p:nvSpPr>
          <p:cNvPr id="11" name="TextBox 10"/>
          <p:cNvSpPr txBox="1"/>
          <p:nvPr/>
        </p:nvSpPr>
        <p:spPr>
          <a:xfrm>
            <a:off x="4572000" y="2468880"/>
            <a:ext cx="3017520" cy="3566160"/>
          </a:xfrm>
          <a:prstGeom prst="rect">
            <a:avLst/>
          </a:prstGeom>
          <a:noFill/>
        </p:spPr>
        <p:txBody>
          <a:bodyPr wrap="square">
            <a:spAutoFit/>
          </a:bodyPr>
          <a:lstStyle/>
          <a:p>
            <a:pPr>
              <a:spcAft>
                <a:spcPts val="1000"/>
              </a:spcAft>
              <a:defRPr sz="950">
                <a:solidFill>
                  <a:srgbClr val="A5B4BC"/>
                </a:solidFill>
              </a:defRPr>
            </a:pPr>
            <a:r>
              <a:t>• QNN Pose Model Integration (Planned): Implement ONNX/QNN pose adapter replacing MediaPipe on Hexagon NPU.</a:t>
            </a:r>
          </a:p>
          <a:p>
            <a:pPr>
              <a:spcAft>
                <a:spcPts val="1000"/>
              </a:spcAft>
              <a:defRPr sz="950">
                <a:solidFill>
                  <a:srgbClr val="A5B4BC"/>
                </a:solidFill>
              </a:defRPr>
            </a:pPr>
            <a:r>
              <a:t>• Snapdragon PC Benchmarking: Evaluate throughput, latency, and power on Snapdragon X Elite HP laptops.</a:t>
            </a:r>
          </a:p>
          <a:p>
            <a:pPr>
              <a:spcAft>
                <a:spcPts val="1000"/>
              </a:spcAft>
              <a:defRPr sz="950">
                <a:solidFill>
                  <a:srgbClr val="A5B4BC"/>
                </a:solidFill>
              </a:defRPr>
            </a:pPr>
            <a:r>
              <a:t>• Multi-Person Interaction: Extend kinematic engine to multi-subject spatial distance tracking.</a:t>
            </a:r>
          </a:p>
          <a:p>
            <a:pPr>
              <a:spcAft>
                <a:spcPts val="1000"/>
              </a:spcAft>
              <a:defRPr sz="950">
                <a:solidFill>
                  <a:srgbClr val="A5B4BC"/>
                </a:solidFill>
              </a:defRPr>
            </a:pPr>
            <a:r>
              <a:t>• Curated Validation Dataset: Benchmark against controlled athletic sparring clips for recall/precision metrics.</a:t>
            </a:r>
          </a:p>
        </p:txBody>
      </p:sp>
      <p:sp>
        <p:nvSpPr>
          <p:cNvPr id="12" name="Rounded Rectangle 11"/>
          <p:cNvSpPr/>
          <p:nvPr/>
        </p:nvSpPr>
        <p:spPr>
          <a:xfrm>
            <a:off x="8046720" y="1920240"/>
            <a:ext cx="3413455" cy="4297680"/>
          </a:xfrm>
          <a:prstGeom prst="roundRect">
            <a:avLst/>
          </a:prstGeom>
          <a:solidFill>
            <a:srgbClr val="0E1E28"/>
          </a:solidFill>
          <a:ln w="12700">
            <a:solidFill>
              <a:srgbClr val="1C3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057400"/>
            <a:ext cx="3047695" cy="365760"/>
          </a:xfrm>
          <a:prstGeom prst="rect">
            <a:avLst/>
          </a:prstGeom>
          <a:noFill/>
        </p:spPr>
        <p:txBody>
          <a:bodyPr wrap="square">
            <a:spAutoFit/>
          </a:bodyPr>
          <a:lstStyle/>
          <a:p>
            <a:pPr>
              <a:defRPr sz="1300" b="1">
                <a:solidFill>
                  <a:srgbClr val="00E5FF"/>
                </a:solidFill>
                <a:latin typeface="Segoe UI"/>
              </a:defRPr>
            </a:pPr>
            <a:r>
              <a:t>CLOSING VALUE STATEMENT</a:t>
            </a:r>
          </a:p>
        </p:txBody>
      </p:sp>
      <p:sp>
        <p:nvSpPr>
          <p:cNvPr id="14" name="TextBox 13"/>
          <p:cNvSpPr txBox="1"/>
          <p:nvPr/>
        </p:nvSpPr>
        <p:spPr>
          <a:xfrm>
            <a:off x="8229600" y="2468880"/>
            <a:ext cx="3047695" cy="3566160"/>
          </a:xfrm>
          <a:prstGeom prst="rect">
            <a:avLst/>
          </a:prstGeom>
          <a:noFill/>
        </p:spPr>
        <p:txBody>
          <a:bodyPr wrap="square">
            <a:spAutoFit/>
          </a:bodyPr>
          <a:lstStyle/>
          <a:p>
            <a:pPr>
              <a:spcAft>
                <a:spcPts val="1200"/>
              </a:spcAft>
              <a:defRPr b="1" sz="1400">
                <a:solidFill>
                  <a:srgbClr val="00E5FF"/>
                </a:solidFill>
              </a:defRPr>
            </a:pPr>
            <a:r>
              <a:t>Edge-Native Motion Intelligence</a:t>
            </a:r>
          </a:p>
          <a:p>
            <a:pPr>
              <a:spcAft>
                <a:spcPts val="1400"/>
              </a:spcAft>
              <a:defRPr sz="1000">
                <a:solidFill>
                  <a:srgbClr val="F5F8FA"/>
                </a:solidFill>
              </a:defRPr>
            </a:pPr>
            <a:r>
              <a:t>Aegis proves that advanced physical motion intelligence can run fully on-device without compromising personal privacy, streaming raw video to cloud servers, or harvesting facial biometrics.</a:t>
            </a:r>
          </a:p>
          <a:p>
            <a:pPr>
              <a:defRPr sz="1000">
                <a:solidFill>
                  <a:srgbClr val="A5B4BC"/>
                </a:solidFill>
              </a:defRPr>
            </a:pPr>
            <a:r>
              <a:t>Designed for Snapdragon-powered HP PCs, Aegis showcases the transformative potential of edge NPU acceleration for human-in-the-loop safety and athletic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